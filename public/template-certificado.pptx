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0"/>
  </p:notesMasterIdLst>
  <p:handoutMasterIdLst>
    <p:handoutMasterId r:id="rId31"/>
  </p:handoutMasterIdLst>
  <p:sldIdLst>
    <p:sldId id="260" r:id="rId2"/>
    <p:sldId id="279" r:id="rId3"/>
    <p:sldId id="277" r:id="rId4"/>
    <p:sldId id="278" r:id="rId5"/>
    <p:sldId id="280" r:id="rId6"/>
    <p:sldId id="281" r:id="rId7"/>
    <p:sldId id="282" r:id="rId8"/>
    <p:sldId id="284" r:id="rId9"/>
    <p:sldId id="285" r:id="rId10"/>
    <p:sldId id="286" r:id="rId11"/>
    <p:sldId id="287" r:id="rId12"/>
    <p:sldId id="288" r:id="rId13"/>
    <p:sldId id="289" r:id="rId14"/>
    <p:sldId id="291" r:id="rId15"/>
    <p:sldId id="290" r:id="rId16"/>
    <p:sldId id="292" r:id="rId17"/>
    <p:sldId id="293" r:id="rId18"/>
    <p:sldId id="295" r:id="rId19"/>
    <p:sldId id="294" r:id="rId20"/>
    <p:sldId id="296" r:id="rId21"/>
    <p:sldId id="297" r:id="rId22"/>
    <p:sldId id="299" r:id="rId23"/>
    <p:sldId id="298" r:id="rId24"/>
    <p:sldId id="300" r:id="rId25"/>
    <p:sldId id="301" r:id="rId26"/>
    <p:sldId id="302" r:id="rId27"/>
    <p:sldId id="303" r:id="rId28"/>
    <p:sldId id="304" r:id="rId29"/>
  </p:sldIdLst>
  <p:sldSz cx="33413700" cy="23622000"/>
  <p:notesSz cx="6858000" cy="9144000"/>
  <p:embeddedFontLs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Montserrat SemiBold" panose="020B0604020202020204" charset="0"/>
      <p:regular r:id="rId36"/>
      <p:bold r:id="rId37"/>
      <p:italic r:id="rId38"/>
      <p:boldItalic r:id="rId39"/>
    </p:embeddedFont>
    <p:embeddedFont>
      <p:font typeface="Montserrat" panose="020B060402020202020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2" d="100"/>
          <a:sy n="32" d="100"/>
        </p:scale>
        <p:origin x="1398" y="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4.fntdata"/><Relationship Id="rId43" Type="http://schemas.openxmlformats.org/officeDocument/2006/relationships/font" Target="fonts/font12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45DF35-9119-4FEB-911E-B9EBE7AA0AF6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1AC05C-93B5-4812-9912-FDA5A5EE9D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5824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1447133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0412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7956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330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98605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64704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4660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33775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10947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7289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00686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41751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75126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91226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42696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93096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74870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36018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6189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12016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93637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97947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13930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15050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5664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19371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63307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20739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7636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970067" y="7700537"/>
            <a:ext cx="17640600" cy="101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5" b="1" dirty="0" smtClean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NOME DO COLABORADOR</a:t>
            </a:r>
            <a:endParaRPr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207875" y="11019546"/>
            <a:ext cx="20103136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88"/>
              </a:lnSpc>
            </a:pPr>
            <a:r>
              <a:rPr lang="pt-B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Sobre uso e guarda de EPI conforme exigências da </a:t>
            </a:r>
          </a:p>
          <a:p>
            <a:pPr algn="ctr">
              <a:lnSpc>
                <a:spcPct val="139988"/>
              </a:lnSpc>
            </a:pPr>
            <a:r>
              <a:rPr lang="pt-B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Norma Regulamentadora </a:t>
            </a:r>
            <a:r>
              <a:rPr lang="pt-BR" sz="4000" b="1" dirty="0" smtClean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– NR-06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6676291" y="19348444"/>
            <a:ext cx="8728811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18"/>
              </a:lnSpc>
            </a:pPr>
            <a:r>
              <a:rPr lang="en-US" sz="3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NOME DO COLABORADOR</a:t>
            </a:r>
            <a:br>
              <a:rPr lang="en-US" sz="3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</a:br>
            <a:r>
              <a:rPr lang="en-US" sz="3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CPF DO COLABORADOR</a:t>
            </a:r>
            <a:endParaRPr sz="32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Google Shape;91;p13"/>
          <p:cNvSpPr txBox="1"/>
          <p:nvPr/>
        </p:nvSpPr>
        <p:spPr>
          <a:xfrm>
            <a:off x="18037465" y="19693153"/>
            <a:ext cx="8728811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18"/>
              </a:lnSpc>
            </a:pPr>
            <a:r>
              <a:rPr lang="en-US" sz="3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TÉCNICO RESPONSÁVEL</a:t>
            </a:r>
            <a:endParaRPr sz="32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Google Shape;91;p13"/>
          <p:cNvSpPr txBox="1"/>
          <p:nvPr/>
        </p:nvSpPr>
        <p:spPr>
          <a:xfrm>
            <a:off x="4055994" y="14630140"/>
            <a:ext cx="8728811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18"/>
              </a:lnSpc>
            </a:pPr>
            <a:r>
              <a:rPr lang="en-US" sz="3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DATA</a:t>
            </a:r>
            <a:endParaRPr sz="32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Google Shape;91;p13"/>
          <p:cNvSpPr txBox="1"/>
          <p:nvPr/>
        </p:nvSpPr>
        <p:spPr>
          <a:xfrm>
            <a:off x="9955349" y="14630140"/>
            <a:ext cx="8728811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18"/>
              </a:lnSpc>
            </a:pPr>
            <a:r>
              <a:rPr lang="en-US" sz="3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LOCAL</a:t>
            </a:r>
            <a:endParaRPr sz="32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Google Shape;91;p13"/>
          <p:cNvSpPr txBox="1"/>
          <p:nvPr/>
        </p:nvSpPr>
        <p:spPr>
          <a:xfrm>
            <a:off x="18037464" y="14630140"/>
            <a:ext cx="8728811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18"/>
              </a:lnSpc>
            </a:pPr>
            <a:r>
              <a:rPr lang="en-US" sz="3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EMPRESA</a:t>
            </a:r>
            <a:endParaRPr sz="32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048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970067" y="7700537"/>
            <a:ext cx="17640600" cy="101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5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Douglas Ramos Da silva</a:t>
            </a:r>
            <a:endParaRPr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207875" y="11019546"/>
            <a:ext cx="20103136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88"/>
              </a:lnSpc>
            </a:pPr>
            <a:r>
              <a:rPr lang="pt-B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Sobre uso e guarda de EPI conforme exigências da </a:t>
            </a:r>
          </a:p>
          <a:p>
            <a:pPr algn="ctr">
              <a:lnSpc>
                <a:spcPct val="139988"/>
              </a:lnSpc>
            </a:pPr>
            <a:r>
              <a:rPr lang="pt-B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Norma Regulamentadora - NR 06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7207875" y="14733100"/>
            <a:ext cx="526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30/07/2026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2772752" y="14617541"/>
            <a:ext cx="526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Canteiro De Obras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9607362" y="14617541"/>
            <a:ext cx="929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latin typeface="Montserrat"/>
                <a:ea typeface="Montserrat"/>
                <a:cs typeface="Montserrat"/>
                <a:sym typeface="Montserrat"/>
              </a:rPr>
              <a:t>MVP Engenharia E Construção LTDA</a:t>
            </a:r>
          </a:p>
        </p:txBody>
      </p:sp>
      <p:sp>
        <p:nvSpPr>
          <p:cNvPr id="91" name="Google Shape;91;p13"/>
          <p:cNvSpPr txBox="1"/>
          <p:nvPr/>
        </p:nvSpPr>
        <p:spPr>
          <a:xfrm>
            <a:off x="6676291" y="19348444"/>
            <a:ext cx="8728811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Douglas Ramos Da Silva</a:t>
            </a:r>
            <a:b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</a:b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CPF: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702. 135.874-16</a:t>
            </a:r>
            <a:endParaRPr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7362" y="18859033"/>
            <a:ext cx="6003305" cy="235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343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/>
        </p:nvSpPr>
        <p:spPr>
          <a:xfrm>
            <a:off x="6200754" y="15729547"/>
            <a:ext cx="8133600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2A373F"/>
                </a:solidFill>
              </a:rPr>
              <a:t>Adeylton</a:t>
            </a:r>
            <a:r>
              <a:rPr lang="en-US" sz="3600" b="1" i="0" u="none" strike="noStrike" cap="none" dirty="0">
                <a:solidFill>
                  <a:srgbClr val="2A373F"/>
                </a:solidFill>
              </a:rPr>
              <a:t> da Silva </a:t>
            </a:r>
            <a:r>
              <a:rPr lang="en-US" sz="3600" b="1" i="0" u="none" strike="noStrike" cap="none" dirty="0" err="1">
                <a:solidFill>
                  <a:srgbClr val="2A373F"/>
                </a:solidFill>
              </a:rPr>
              <a:t>Araújo</a:t>
            </a:r>
            <a:endParaRPr sz="3600" b="1" dirty="0"/>
          </a:p>
          <a:p>
            <a:pPr marL="0" marR="0" lvl="0" indent="0" algn="l" rtl="0">
              <a:lnSpc>
                <a:spcPct val="1400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Técnico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em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Segurança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do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Trabalho</a:t>
            </a:r>
            <a:endParaRPr sz="3200" b="1" dirty="0">
              <a:solidFill>
                <a:srgbClr val="00B05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40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4949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SRTE N° 0009823/RN</a:t>
            </a:r>
            <a:endParaRPr sz="3200" dirty="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356159" y="7850478"/>
            <a:ext cx="7295778" cy="76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pt-BR" sz="3200" b="1" dirty="0">
                <a:latin typeface="Montserrat"/>
                <a:ea typeface="Montserrat"/>
                <a:cs typeface="Montserrat"/>
                <a:sym typeface="Montserrat"/>
              </a:rPr>
              <a:t>Treinamento de NR - 06</a:t>
            </a:r>
          </a:p>
        </p:txBody>
      </p:sp>
      <p:sp>
        <p:nvSpPr>
          <p:cNvPr id="100" name="Google Shape;100;p14"/>
          <p:cNvSpPr txBox="1"/>
          <p:nvPr/>
        </p:nvSpPr>
        <p:spPr>
          <a:xfrm>
            <a:off x="4865531" y="8613878"/>
            <a:ext cx="8952069" cy="63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latin typeface="Montserrat"/>
                <a:ea typeface="Montserrat"/>
                <a:cs typeface="Montserrat"/>
                <a:sym typeface="Montserrat"/>
              </a:rPr>
              <a:t>MVP Engenharia E Construção LTDA</a:t>
            </a:r>
          </a:p>
        </p:txBody>
      </p:sp>
      <p:sp>
        <p:nvSpPr>
          <p:cNvPr id="101" name="Google Shape;101;p14"/>
          <p:cNvSpPr txBox="1"/>
          <p:nvPr/>
        </p:nvSpPr>
        <p:spPr>
          <a:xfrm>
            <a:off x="4251158" y="9591045"/>
            <a:ext cx="7146185" cy="543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Canteiro De Obras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4650237" y="10352984"/>
            <a:ext cx="5842579" cy="674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30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/07/2026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731962" y="11339337"/>
            <a:ext cx="14529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 hora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5064442" y="12036260"/>
            <a:ext cx="6332901" cy="674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Douglas Ramos Da Silva</a:t>
            </a:r>
          </a:p>
        </p:txBody>
      </p:sp>
      <p:sp>
        <p:nvSpPr>
          <p:cNvPr id="105" name="Google Shape;105;p14"/>
          <p:cNvSpPr txBox="1"/>
          <p:nvPr/>
        </p:nvSpPr>
        <p:spPr>
          <a:xfrm>
            <a:off x="4042636" y="12988690"/>
            <a:ext cx="3961412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702. 135.874-16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xmlns="" id="{31A90F8C-A50F-56F6-6B1F-D67AFB17A276}"/>
              </a:ext>
            </a:extLst>
          </p:cNvPr>
          <p:cNvSpPr txBox="1"/>
          <p:nvPr/>
        </p:nvSpPr>
        <p:spPr>
          <a:xfrm>
            <a:off x="17409186" y="7643901"/>
            <a:ext cx="13680413" cy="61863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altLang="ko-KR" sz="3600" b="1" dirty="0">
                <a:cs typeface="Arial" panose="020B0604020202020204" pitchFamily="34" charset="0"/>
              </a:rPr>
              <a:t>a) descrição do equipamento e seus componentes;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b) risco ocupacional contra o qual o EPI oferece proteção;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c) restrições e limitações de proteção;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d) forma adequada de uso e ajuste;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e) manutenção e substituição; e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f) cuidados de limpeza, higienização, guarda e conservação.</a:t>
            </a:r>
          </a:p>
        </p:txBody>
      </p:sp>
    </p:spTree>
    <p:extLst>
      <p:ext uri="{BB962C8B-B14F-4D97-AF65-F5344CB8AC3E}">
        <p14:creationId xmlns:p14="http://schemas.microsoft.com/office/powerpoint/2010/main" val="2755545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/>
        </p:nvSpPr>
        <p:spPr>
          <a:xfrm>
            <a:off x="6200754" y="15729547"/>
            <a:ext cx="8133600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2A373F"/>
                </a:solidFill>
              </a:rPr>
              <a:t>Adeylton</a:t>
            </a:r>
            <a:r>
              <a:rPr lang="en-US" sz="3600" b="1" i="0" u="none" strike="noStrike" cap="none" dirty="0">
                <a:solidFill>
                  <a:srgbClr val="2A373F"/>
                </a:solidFill>
              </a:rPr>
              <a:t> da Silva </a:t>
            </a:r>
            <a:r>
              <a:rPr lang="en-US" sz="3600" b="1" i="0" u="none" strike="noStrike" cap="none" dirty="0" err="1">
                <a:solidFill>
                  <a:srgbClr val="2A373F"/>
                </a:solidFill>
              </a:rPr>
              <a:t>Araújo</a:t>
            </a:r>
            <a:endParaRPr sz="3600" b="1" dirty="0"/>
          </a:p>
          <a:p>
            <a:pPr marL="0" marR="0" lvl="0" indent="0" algn="l" rtl="0">
              <a:lnSpc>
                <a:spcPct val="1400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Técnico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em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Segurança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do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Trabalho</a:t>
            </a:r>
            <a:endParaRPr sz="3200" b="1" dirty="0">
              <a:solidFill>
                <a:srgbClr val="00B05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40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4949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SRTE N° 0009823/RN</a:t>
            </a:r>
            <a:endParaRPr sz="3200" dirty="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356159" y="7850478"/>
            <a:ext cx="7295778" cy="76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pt-BR" sz="3200" b="1" dirty="0">
                <a:latin typeface="Montserrat"/>
                <a:ea typeface="Montserrat"/>
                <a:cs typeface="Montserrat"/>
                <a:sym typeface="Montserrat"/>
              </a:rPr>
              <a:t>Treinamento de NR - 06</a:t>
            </a:r>
          </a:p>
        </p:txBody>
      </p:sp>
      <p:sp>
        <p:nvSpPr>
          <p:cNvPr id="100" name="Google Shape;100;p14"/>
          <p:cNvSpPr txBox="1"/>
          <p:nvPr/>
        </p:nvSpPr>
        <p:spPr>
          <a:xfrm>
            <a:off x="4865531" y="8859737"/>
            <a:ext cx="9002869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latin typeface="Montserrat"/>
                <a:ea typeface="Montserrat"/>
                <a:cs typeface="Montserrat"/>
                <a:sym typeface="Montserrat"/>
              </a:rPr>
              <a:t>MVP Engenharia E Construção LTDA</a:t>
            </a:r>
          </a:p>
        </p:txBody>
      </p:sp>
      <p:sp>
        <p:nvSpPr>
          <p:cNvPr id="101" name="Google Shape;101;p14"/>
          <p:cNvSpPr txBox="1"/>
          <p:nvPr/>
        </p:nvSpPr>
        <p:spPr>
          <a:xfrm>
            <a:off x="4251157" y="9652955"/>
            <a:ext cx="7295777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Canteiro  De Obras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4652521" y="10351431"/>
            <a:ext cx="5232979" cy="674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30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/07/2026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731962" y="11339337"/>
            <a:ext cx="14529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 hora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5064442" y="12017266"/>
            <a:ext cx="6332901" cy="674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Douglas Ramos Da Silva</a:t>
            </a:r>
          </a:p>
        </p:txBody>
      </p:sp>
      <p:sp>
        <p:nvSpPr>
          <p:cNvPr id="105" name="Google Shape;105;p14"/>
          <p:cNvSpPr txBox="1"/>
          <p:nvPr/>
        </p:nvSpPr>
        <p:spPr>
          <a:xfrm>
            <a:off x="4042636" y="12988690"/>
            <a:ext cx="3961412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1702. 135.874-16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xmlns="" id="{31A90F8C-A50F-56F6-6B1F-D67AFB17A276}"/>
              </a:ext>
            </a:extLst>
          </p:cNvPr>
          <p:cNvSpPr txBox="1"/>
          <p:nvPr/>
        </p:nvSpPr>
        <p:spPr>
          <a:xfrm>
            <a:off x="17409186" y="7643901"/>
            <a:ext cx="13680413" cy="61863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altLang="ko-KR" sz="3600" b="1" dirty="0">
                <a:cs typeface="Arial" panose="020B0604020202020204" pitchFamily="34" charset="0"/>
              </a:rPr>
              <a:t>a) descrição do equipamento e seus componentes;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b) risco ocupacional contra o qual o EPI oferece proteção;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c) restrições e limitações de proteção;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d) forma adequada de uso e ajuste;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e) manutenção e substituição; e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f) cuidados de limpeza, higienização, guarda e conservação.</a:t>
            </a:r>
          </a:p>
        </p:txBody>
      </p:sp>
    </p:spTree>
    <p:extLst>
      <p:ext uri="{BB962C8B-B14F-4D97-AF65-F5344CB8AC3E}">
        <p14:creationId xmlns:p14="http://schemas.microsoft.com/office/powerpoint/2010/main" val="2193745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970067" y="7700537"/>
            <a:ext cx="17640600" cy="101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5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Henrique </a:t>
            </a:r>
            <a:r>
              <a:rPr lang="en-US" sz="4705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Trajano</a:t>
            </a:r>
            <a:r>
              <a:rPr lang="en-US" sz="4705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Da Silva Neto</a:t>
            </a:r>
            <a:endParaRPr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207875" y="11019546"/>
            <a:ext cx="20103136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88"/>
              </a:lnSpc>
            </a:pPr>
            <a:r>
              <a:rPr lang="pt-B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Sobre uso e guarda de EPI conforme exigências da </a:t>
            </a:r>
          </a:p>
          <a:p>
            <a:pPr algn="ctr">
              <a:lnSpc>
                <a:spcPct val="139988"/>
              </a:lnSpc>
            </a:pPr>
            <a:r>
              <a:rPr lang="pt-B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Norma Regulamentadora - NR 06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7207875" y="14733100"/>
            <a:ext cx="526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30/07/2026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2684562" y="14629170"/>
            <a:ext cx="526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Canteiro De Obras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9607362" y="14555829"/>
            <a:ext cx="929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latin typeface="Montserrat"/>
                <a:ea typeface="Montserrat"/>
                <a:cs typeface="Montserrat"/>
                <a:sym typeface="Montserrat"/>
              </a:rPr>
              <a:t>M A Construções E Serviços LTDA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676291" y="19348444"/>
            <a:ext cx="8728811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18"/>
              </a:lnSpc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Henrique </a:t>
            </a:r>
            <a:r>
              <a:rPr lang="en-US" sz="3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Trajano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 Da </a:t>
            </a:r>
            <a:r>
              <a:rPr lang="en-US" sz="3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sIlva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 Neto</a:t>
            </a:r>
            <a:b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</a:b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CPF: 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 133.016.124-66</a:t>
            </a:r>
          </a:p>
          <a:p>
            <a:pPr marL="0" marR="0" lvl="0" indent="0" algn="ctr" rtl="0">
              <a:lnSpc>
                <a:spcPct val="13991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7362" y="18859033"/>
            <a:ext cx="6003305" cy="235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267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970067" y="7700537"/>
            <a:ext cx="17640600" cy="101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5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Henrique </a:t>
            </a:r>
            <a:r>
              <a:rPr lang="en-US" sz="4705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Trajano</a:t>
            </a:r>
            <a:r>
              <a:rPr lang="en-US" sz="4705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Da Silva Neto</a:t>
            </a:r>
            <a:endParaRPr lang="en-US" sz="4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207875" y="11019546"/>
            <a:ext cx="20103136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88"/>
              </a:lnSpc>
            </a:pPr>
            <a:r>
              <a:rPr lang="pt-B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Sobre uso e guarda de EPI conforme exigências da </a:t>
            </a:r>
          </a:p>
          <a:p>
            <a:pPr algn="ctr">
              <a:lnSpc>
                <a:spcPct val="139988"/>
              </a:lnSpc>
            </a:pPr>
            <a:r>
              <a:rPr lang="pt-B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Norma Regulamentadora - NR 06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7207875" y="14733100"/>
            <a:ext cx="526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30/07/2026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2472575" y="14617541"/>
            <a:ext cx="526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Canteiro De Obras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0729139" y="14617541"/>
            <a:ext cx="929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676291" y="19348444"/>
            <a:ext cx="8728811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18"/>
              </a:lnSpc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Henrique </a:t>
            </a:r>
            <a:r>
              <a:rPr lang="en-US" sz="3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Trajano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 Da </a:t>
            </a:r>
            <a:r>
              <a:rPr lang="en-US" sz="3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sIlva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 Neto</a:t>
            </a:r>
            <a:b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</a:b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CPF: 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 133.016.124-66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7362" y="18859033"/>
            <a:ext cx="6003305" cy="2357662"/>
          </a:xfrm>
          <a:prstGeom prst="rect">
            <a:avLst/>
          </a:prstGeom>
        </p:spPr>
      </p:pic>
      <p:sp>
        <p:nvSpPr>
          <p:cNvPr id="4" name="Google Shape;89;p13">
            <a:extLst>
              <a:ext uri="{FF2B5EF4-FFF2-40B4-BE49-F238E27FC236}">
                <a16:creationId xmlns:a16="http://schemas.microsoft.com/office/drawing/2014/main" xmlns="" id="{9C8D90A7-5BC6-93F6-C636-80DB371E0DD5}"/>
              </a:ext>
            </a:extLst>
          </p:cNvPr>
          <p:cNvSpPr txBox="1"/>
          <p:nvPr/>
        </p:nvSpPr>
        <p:spPr>
          <a:xfrm>
            <a:off x="19607362" y="14555829"/>
            <a:ext cx="929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latin typeface="Montserrat"/>
                <a:ea typeface="Montserrat"/>
                <a:cs typeface="Montserrat"/>
                <a:sym typeface="Montserrat"/>
              </a:rPr>
              <a:t>M A Construções E Serviços LTDA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930705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/>
        </p:nvSpPr>
        <p:spPr>
          <a:xfrm>
            <a:off x="6200754" y="15729547"/>
            <a:ext cx="8133600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2A373F"/>
                </a:solidFill>
              </a:rPr>
              <a:t>Adeylton</a:t>
            </a:r>
            <a:r>
              <a:rPr lang="en-US" sz="3600" b="1" i="0" u="none" strike="noStrike" cap="none" dirty="0">
                <a:solidFill>
                  <a:srgbClr val="2A373F"/>
                </a:solidFill>
              </a:rPr>
              <a:t> da Silva </a:t>
            </a:r>
            <a:r>
              <a:rPr lang="en-US" sz="3600" b="1" i="0" u="none" strike="noStrike" cap="none" dirty="0" err="1">
                <a:solidFill>
                  <a:srgbClr val="2A373F"/>
                </a:solidFill>
              </a:rPr>
              <a:t>Araújo</a:t>
            </a:r>
            <a:endParaRPr sz="3600" b="1" dirty="0"/>
          </a:p>
          <a:p>
            <a:pPr marL="0" marR="0" lvl="0" indent="0" algn="l" rtl="0">
              <a:lnSpc>
                <a:spcPct val="1400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Técnico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em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Segurança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do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Trabalho</a:t>
            </a:r>
            <a:endParaRPr sz="3200" b="1" dirty="0">
              <a:solidFill>
                <a:srgbClr val="00B05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40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4949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SRTE N° 0009823/RN</a:t>
            </a:r>
            <a:endParaRPr sz="3200" dirty="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356159" y="7850478"/>
            <a:ext cx="7295778" cy="76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pt-BR" sz="3200" b="1" dirty="0">
                <a:latin typeface="Montserrat"/>
                <a:ea typeface="Montserrat"/>
                <a:cs typeface="Montserrat"/>
                <a:sym typeface="Montserrat"/>
              </a:rPr>
              <a:t>Treinamento de NR - 06</a:t>
            </a:r>
          </a:p>
        </p:txBody>
      </p:sp>
      <p:sp>
        <p:nvSpPr>
          <p:cNvPr id="101" name="Google Shape;101;p14"/>
          <p:cNvSpPr txBox="1"/>
          <p:nvPr/>
        </p:nvSpPr>
        <p:spPr>
          <a:xfrm>
            <a:off x="4251158" y="9701336"/>
            <a:ext cx="4384842" cy="254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Canteiro De Obras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4673021" y="10544306"/>
            <a:ext cx="4938337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30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/07/2026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731962" y="11339337"/>
            <a:ext cx="14529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 hora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4673021" y="12134368"/>
            <a:ext cx="8702358" cy="97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140021"/>
              </a:lnSpc>
            </a:pPr>
            <a:r>
              <a:rPr lang="en-US" sz="3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Henrique </a:t>
            </a:r>
            <a:r>
              <a:rPr lang="en-US" sz="32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Trajano</a:t>
            </a:r>
            <a:r>
              <a:rPr lang="en-US" sz="3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Da Silva Neto</a:t>
            </a:r>
          </a:p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2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4093436" y="12988690"/>
            <a:ext cx="3961412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 133.016.124-66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xmlns="" id="{31A90F8C-A50F-56F6-6B1F-D67AFB17A276}"/>
              </a:ext>
            </a:extLst>
          </p:cNvPr>
          <p:cNvSpPr txBox="1"/>
          <p:nvPr/>
        </p:nvSpPr>
        <p:spPr>
          <a:xfrm>
            <a:off x="17409186" y="7643901"/>
            <a:ext cx="13680413" cy="61863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altLang="ko-KR" sz="3600" b="1" dirty="0">
                <a:cs typeface="Arial" panose="020B0604020202020204" pitchFamily="34" charset="0"/>
              </a:rPr>
              <a:t>a) descrição do equipamento e seus componentes;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b) risco ocupacional contra o qual o EPI oferece proteção;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c) restrições e limitações de proteção;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d) forma adequada de uso e ajuste;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e) manutenção e substituição; e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f) cuidados de limpeza, higienização, guarda e conservação.</a:t>
            </a:r>
          </a:p>
        </p:txBody>
      </p:sp>
      <p:sp>
        <p:nvSpPr>
          <p:cNvPr id="5" name="Google Shape;89;p13">
            <a:extLst>
              <a:ext uri="{FF2B5EF4-FFF2-40B4-BE49-F238E27FC236}">
                <a16:creationId xmlns:a16="http://schemas.microsoft.com/office/drawing/2014/main" xmlns="" id="{D30D9CF0-4525-2985-24CB-F846DD01D5FB}"/>
              </a:ext>
            </a:extLst>
          </p:cNvPr>
          <p:cNvSpPr txBox="1"/>
          <p:nvPr/>
        </p:nvSpPr>
        <p:spPr>
          <a:xfrm>
            <a:off x="4961808" y="8815198"/>
            <a:ext cx="929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latin typeface="Montserrat"/>
                <a:ea typeface="Montserrat"/>
                <a:cs typeface="Montserrat"/>
                <a:sym typeface="Montserrat"/>
              </a:rPr>
              <a:t>M A Construções E Serviços LTDA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988012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/>
        </p:nvSpPr>
        <p:spPr>
          <a:xfrm>
            <a:off x="6200754" y="15729547"/>
            <a:ext cx="8133600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2A373F"/>
                </a:solidFill>
              </a:rPr>
              <a:t>Adeylton</a:t>
            </a:r>
            <a:r>
              <a:rPr lang="en-US" sz="3600" b="1" i="0" u="none" strike="noStrike" cap="none" dirty="0">
                <a:solidFill>
                  <a:srgbClr val="2A373F"/>
                </a:solidFill>
              </a:rPr>
              <a:t> da Silva </a:t>
            </a:r>
            <a:r>
              <a:rPr lang="en-US" sz="3600" b="1" i="0" u="none" strike="noStrike" cap="none" dirty="0" err="1">
                <a:solidFill>
                  <a:srgbClr val="2A373F"/>
                </a:solidFill>
              </a:rPr>
              <a:t>Araújo</a:t>
            </a:r>
            <a:endParaRPr sz="3600" b="1" dirty="0"/>
          </a:p>
          <a:p>
            <a:pPr marL="0" marR="0" lvl="0" indent="0" algn="l" rtl="0">
              <a:lnSpc>
                <a:spcPct val="1400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Técnico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em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Segurança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do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Trabalho</a:t>
            </a:r>
            <a:endParaRPr sz="3200" b="1" dirty="0">
              <a:solidFill>
                <a:srgbClr val="00B05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40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4949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SRTE N° 0009823/RN</a:t>
            </a:r>
            <a:endParaRPr sz="3200" dirty="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356159" y="7850478"/>
            <a:ext cx="7295778" cy="76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pt-BR" sz="3200" b="1" dirty="0">
                <a:latin typeface="Montserrat"/>
                <a:ea typeface="Montserrat"/>
                <a:cs typeface="Montserrat"/>
                <a:sym typeface="Montserrat"/>
              </a:rPr>
              <a:t>Treinamento de NR - 06</a:t>
            </a:r>
          </a:p>
        </p:txBody>
      </p:sp>
      <p:sp>
        <p:nvSpPr>
          <p:cNvPr id="100" name="Google Shape;100;p14"/>
          <p:cNvSpPr txBox="1"/>
          <p:nvPr/>
        </p:nvSpPr>
        <p:spPr>
          <a:xfrm>
            <a:off x="4865531" y="8846506"/>
            <a:ext cx="7631269" cy="398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en-US" sz="3200" b="1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M A </a:t>
            </a:r>
            <a:r>
              <a:rPr lang="en-US" sz="3200" b="1" dirty="0" err="1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Construções</a:t>
            </a:r>
            <a:r>
              <a:rPr lang="en-US" sz="3200" b="1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 E Serviços LTDA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4251158" y="9788967"/>
            <a:ext cx="4435642" cy="12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Canteiro De Obras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4673021" y="10544306"/>
            <a:ext cx="4938337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30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/07/2026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731962" y="11339337"/>
            <a:ext cx="14529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 hora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4604714" y="12320981"/>
            <a:ext cx="8905558" cy="724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140021"/>
              </a:lnSpc>
            </a:pPr>
            <a:r>
              <a:rPr lang="en-US" sz="3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Henrique </a:t>
            </a:r>
            <a:r>
              <a:rPr lang="en-US" sz="32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Trajano</a:t>
            </a:r>
            <a:r>
              <a:rPr lang="en-US" sz="3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Da Silva Neto</a:t>
            </a:r>
          </a:p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2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4042636" y="12988690"/>
            <a:ext cx="3961412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0 133.016.124-66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xmlns="" id="{31A90F8C-A50F-56F6-6B1F-D67AFB17A276}"/>
              </a:ext>
            </a:extLst>
          </p:cNvPr>
          <p:cNvSpPr txBox="1"/>
          <p:nvPr/>
        </p:nvSpPr>
        <p:spPr>
          <a:xfrm>
            <a:off x="17409186" y="7643901"/>
            <a:ext cx="13680413" cy="61863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altLang="ko-KR" sz="3600" b="1" dirty="0">
                <a:cs typeface="Arial" panose="020B0604020202020204" pitchFamily="34" charset="0"/>
              </a:rPr>
              <a:t>a) descrição do equipamento e seus componentes;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b) risco ocupacional contra o qual o EPI oferece proteção;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c) restrições e limitações de proteção;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d) forma adequada de uso e ajuste;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e) manutenção e substituição; e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f) cuidados de limpeza, higienização, guarda e conservação.</a:t>
            </a:r>
          </a:p>
        </p:txBody>
      </p:sp>
    </p:spTree>
    <p:extLst>
      <p:ext uri="{BB962C8B-B14F-4D97-AF65-F5344CB8AC3E}">
        <p14:creationId xmlns:p14="http://schemas.microsoft.com/office/powerpoint/2010/main" val="2073014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970067" y="7700537"/>
            <a:ext cx="176406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Valdemir De Souza Laurindo</a:t>
            </a:r>
          </a:p>
        </p:txBody>
      </p:sp>
      <p:sp>
        <p:nvSpPr>
          <p:cNvPr id="86" name="Google Shape;86;p13"/>
          <p:cNvSpPr txBox="1"/>
          <p:nvPr/>
        </p:nvSpPr>
        <p:spPr>
          <a:xfrm>
            <a:off x="7207875" y="11019546"/>
            <a:ext cx="20103136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88"/>
              </a:lnSpc>
            </a:pPr>
            <a:r>
              <a:rPr lang="pt-B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Sobre uso e guarda de EPI conforme exigências da </a:t>
            </a:r>
          </a:p>
          <a:p>
            <a:pPr algn="ctr">
              <a:lnSpc>
                <a:spcPct val="139988"/>
              </a:lnSpc>
            </a:pPr>
            <a:r>
              <a:rPr lang="pt-B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Norma Regulamentadora - NR 06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7207875" y="14733100"/>
            <a:ext cx="526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30/07/2026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2772752" y="14733100"/>
            <a:ext cx="526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Canteiro De Obras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9607362" y="14673475"/>
            <a:ext cx="929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latin typeface="Montserrat"/>
                <a:ea typeface="Montserrat"/>
                <a:cs typeface="Montserrat"/>
                <a:sym typeface="Montserrat"/>
              </a:rPr>
              <a:t>M A Construções E Serviços LTDA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676291" y="19348444"/>
            <a:ext cx="8728811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18"/>
              </a:lnSpc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Valdemir De Souza Laurindo</a:t>
            </a:r>
            <a:b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</a:b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CPF: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078.490.744-75</a:t>
            </a:r>
          </a:p>
          <a:p>
            <a:pPr marL="0" marR="0" lvl="0" indent="0" algn="ctr" rtl="0">
              <a:lnSpc>
                <a:spcPct val="13991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7362" y="18859033"/>
            <a:ext cx="6003305" cy="235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273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970067" y="7700537"/>
            <a:ext cx="17640600" cy="101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5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Valdemir De Souza Laurindo</a:t>
            </a:r>
            <a:endParaRPr lang="en-US" sz="4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207875" y="11019546"/>
            <a:ext cx="20103136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88"/>
              </a:lnSpc>
            </a:pPr>
            <a:r>
              <a:rPr lang="pt-B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Sobre uso e guarda de EPI conforme exigências da </a:t>
            </a:r>
          </a:p>
          <a:p>
            <a:pPr algn="ctr">
              <a:lnSpc>
                <a:spcPct val="139988"/>
              </a:lnSpc>
            </a:pPr>
            <a:r>
              <a:rPr lang="pt-B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Norma Regulamentadora - NR 06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7207875" y="14733100"/>
            <a:ext cx="526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30/07/2026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3229952" y="14701371"/>
            <a:ext cx="526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err="1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Mossoró</a:t>
            </a:r>
            <a:r>
              <a:rPr lang="en-US" sz="3200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 RN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9607362" y="14628050"/>
            <a:ext cx="929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latin typeface="Montserrat"/>
                <a:ea typeface="Montserrat"/>
                <a:cs typeface="Montserrat"/>
                <a:sym typeface="Montserrat"/>
              </a:rPr>
              <a:t>M A Construções E Serviços LTDA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676291" y="19348444"/>
            <a:ext cx="8728811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18"/>
              </a:lnSpc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Valdemir De Souza Laurindo</a:t>
            </a:r>
            <a:b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</a:b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CPF: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078.490.744-75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7362" y="18859033"/>
            <a:ext cx="6003305" cy="235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752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/>
        </p:nvSpPr>
        <p:spPr>
          <a:xfrm>
            <a:off x="6200754" y="15729547"/>
            <a:ext cx="8133600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2A373F"/>
                </a:solidFill>
              </a:rPr>
              <a:t>Adeylton</a:t>
            </a:r>
            <a:r>
              <a:rPr lang="en-US" sz="3600" b="1" i="0" u="none" strike="noStrike" cap="none" dirty="0">
                <a:solidFill>
                  <a:srgbClr val="2A373F"/>
                </a:solidFill>
              </a:rPr>
              <a:t> da Silva </a:t>
            </a:r>
            <a:r>
              <a:rPr lang="en-US" sz="3600" b="1" i="0" u="none" strike="noStrike" cap="none" dirty="0" err="1">
                <a:solidFill>
                  <a:srgbClr val="2A373F"/>
                </a:solidFill>
              </a:rPr>
              <a:t>Araújo</a:t>
            </a:r>
            <a:endParaRPr sz="3600" b="1" dirty="0"/>
          </a:p>
          <a:p>
            <a:pPr marL="0" marR="0" lvl="0" indent="0" algn="l" rtl="0">
              <a:lnSpc>
                <a:spcPct val="1400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Técnico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em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Segurança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do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Trabalho</a:t>
            </a:r>
            <a:endParaRPr sz="3200" b="1" dirty="0">
              <a:solidFill>
                <a:srgbClr val="00B05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40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4949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SRTE N° 0009823/RN</a:t>
            </a:r>
            <a:endParaRPr sz="3200" dirty="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356159" y="7850478"/>
            <a:ext cx="7295778" cy="76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pt-BR" sz="3200" b="1" dirty="0">
                <a:latin typeface="Montserrat"/>
                <a:ea typeface="Montserrat"/>
                <a:cs typeface="Montserrat"/>
                <a:sym typeface="Montserrat"/>
              </a:rPr>
              <a:t>Treinamento de NR - 06</a:t>
            </a:r>
          </a:p>
        </p:txBody>
      </p:sp>
      <p:sp>
        <p:nvSpPr>
          <p:cNvPr id="100" name="Google Shape;100;p14"/>
          <p:cNvSpPr txBox="1"/>
          <p:nvPr/>
        </p:nvSpPr>
        <p:spPr>
          <a:xfrm>
            <a:off x="4865531" y="8846506"/>
            <a:ext cx="7631269" cy="398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en-US" sz="3200" b="1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 M A </a:t>
            </a:r>
            <a:r>
              <a:rPr lang="en-US" sz="3200" b="1" dirty="0" err="1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Construções</a:t>
            </a:r>
            <a:r>
              <a:rPr lang="en-US" sz="3200" b="1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 E Serviços LTDA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4356159" y="9541732"/>
            <a:ext cx="4938337" cy="653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Canteiro De Obras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4673021" y="10544306"/>
            <a:ext cx="4938337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30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/07/2026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731962" y="11339337"/>
            <a:ext cx="14529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 hora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5368793" y="12316626"/>
            <a:ext cx="8392504" cy="751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140021"/>
              </a:lnSpc>
            </a:pPr>
            <a:r>
              <a:rPr lang="en-US" sz="3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2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Valdemir</a:t>
            </a:r>
            <a:r>
              <a:rPr lang="en-US" sz="3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 Souza Laurindo</a:t>
            </a:r>
          </a:p>
          <a:p>
            <a:pPr marL="0" marR="0" lvl="0" indent="0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2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4042636" y="12988690"/>
            <a:ext cx="3961412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078.490.744-75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xmlns="" id="{31A90F8C-A50F-56F6-6B1F-D67AFB17A276}"/>
              </a:ext>
            </a:extLst>
          </p:cNvPr>
          <p:cNvSpPr txBox="1"/>
          <p:nvPr/>
        </p:nvSpPr>
        <p:spPr>
          <a:xfrm>
            <a:off x="17409186" y="7643901"/>
            <a:ext cx="13680413" cy="61863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altLang="ko-KR" sz="3600" b="1" dirty="0">
                <a:cs typeface="Arial" panose="020B0604020202020204" pitchFamily="34" charset="0"/>
              </a:rPr>
              <a:t>a) descrição do equipamento e seus componentes;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b) risco ocupacional contra o qual o EPI oferece proteção;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c) restrições e limitações de proteção;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d) forma adequada de uso e ajuste;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e) manutenção e substituição; e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f) cuidados de limpeza, higienização, guarda e conservação.</a:t>
            </a:r>
          </a:p>
        </p:txBody>
      </p:sp>
    </p:spTree>
    <p:extLst>
      <p:ext uri="{BB962C8B-B14F-4D97-AF65-F5344CB8AC3E}">
        <p14:creationId xmlns:p14="http://schemas.microsoft.com/office/powerpoint/2010/main" val="455108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/>
        </p:nvSpPr>
        <p:spPr>
          <a:xfrm>
            <a:off x="6200754" y="15729547"/>
            <a:ext cx="8133600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2A373F"/>
                </a:solidFill>
              </a:rPr>
              <a:t>Adeylton</a:t>
            </a:r>
            <a:r>
              <a:rPr lang="en-US" sz="3600" b="1" i="0" u="none" strike="noStrike" cap="none" dirty="0">
                <a:solidFill>
                  <a:srgbClr val="2A373F"/>
                </a:solidFill>
              </a:rPr>
              <a:t> da Silva </a:t>
            </a:r>
            <a:r>
              <a:rPr lang="en-US" sz="3600" b="1" i="0" u="none" strike="noStrike" cap="none" dirty="0" err="1">
                <a:solidFill>
                  <a:srgbClr val="2A373F"/>
                </a:solidFill>
              </a:rPr>
              <a:t>Araújo</a:t>
            </a:r>
            <a:endParaRPr sz="3600" b="1" dirty="0"/>
          </a:p>
          <a:p>
            <a:pPr marL="0" marR="0" lvl="0" indent="0" algn="l" rtl="0">
              <a:lnSpc>
                <a:spcPct val="1400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Técnico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em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Segurança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do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Trabalho</a:t>
            </a:r>
            <a:endParaRPr sz="3200" b="1" dirty="0">
              <a:solidFill>
                <a:srgbClr val="00B05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40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4949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SRTE N° 0009823/RN</a:t>
            </a:r>
            <a:endParaRPr sz="3200" dirty="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356159" y="7850478"/>
            <a:ext cx="7295778" cy="76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pt-BR" sz="3200" b="1" dirty="0">
                <a:latin typeface="Montserrat"/>
                <a:ea typeface="Montserrat"/>
                <a:cs typeface="Montserrat"/>
                <a:sym typeface="Montserrat"/>
              </a:rPr>
              <a:t>Treinamento de NR - 06</a:t>
            </a:r>
          </a:p>
        </p:txBody>
      </p:sp>
      <p:sp>
        <p:nvSpPr>
          <p:cNvPr id="100" name="Google Shape;100;p14"/>
          <p:cNvSpPr txBox="1"/>
          <p:nvPr/>
        </p:nvSpPr>
        <p:spPr>
          <a:xfrm>
            <a:off x="4865531" y="8846506"/>
            <a:ext cx="7631269" cy="398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en-US" sz="3200" b="1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M A </a:t>
            </a:r>
            <a:r>
              <a:rPr lang="en-US" sz="3200" b="1" dirty="0" err="1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Construções</a:t>
            </a:r>
            <a:r>
              <a:rPr lang="en-US" sz="3200" b="1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 E Serviços LTDA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4251158" y="9788967"/>
            <a:ext cx="5807242" cy="5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Canteiro De Obras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4673021" y="10544306"/>
            <a:ext cx="4938337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30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/07/2026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731962" y="11339337"/>
            <a:ext cx="14529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 hora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4251158" y="12163567"/>
            <a:ext cx="9468823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Valdemir</a:t>
            </a:r>
            <a:r>
              <a:rPr lang="en-US" sz="3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 Souza Laurindo</a:t>
            </a:r>
          </a:p>
        </p:txBody>
      </p:sp>
      <p:sp>
        <p:nvSpPr>
          <p:cNvPr id="105" name="Google Shape;105;p14"/>
          <p:cNvSpPr txBox="1"/>
          <p:nvPr/>
        </p:nvSpPr>
        <p:spPr>
          <a:xfrm>
            <a:off x="4042636" y="12988690"/>
            <a:ext cx="3961412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endParaRPr lang="en-US"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xmlns="" id="{31A90F8C-A50F-56F6-6B1F-D67AFB17A276}"/>
              </a:ext>
            </a:extLst>
          </p:cNvPr>
          <p:cNvSpPr txBox="1"/>
          <p:nvPr/>
        </p:nvSpPr>
        <p:spPr>
          <a:xfrm>
            <a:off x="17409186" y="7643901"/>
            <a:ext cx="13680413" cy="61863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altLang="ko-KR" sz="3600" b="1" dirty="0">
                <a:cs typeface="Arial" panose="020B0604020202020204" pitchFamily="34" charset="0"/>
              </a:rPr>
              <a:t>a) descrição do equipamento e seus componentes;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b) risco ocupacional contra o qual o EPI oferece proteção;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c) restrições e limitações de proteção;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d) forma adequada de uso e ajuste;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e) manutenção e substituição; e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f) cuidados de limpeza, higienização, guarda e conservação.</a:t>
            </a:r>
          </a:p>
        </p:txBody>
      </p:sp>
      <p:sp>
        <p:nvSpPr>
          <p:cNvPr id="3" name="Google Shape;105;p14">
            <a:extLst>
              <a:ext uri="{FF2B5EF4-FFF2-40B4-BE49-F238E27FC236}">
                <a16:creationId xmlns:a16="http://schemas.microsoft.com/office/drawing/2014/main" xmlns="" id="{48239988-0D45-D9E7-3056-1FC37833F5ED}"/>
              </a:ext>
            </a:extLst>
          </p:cNvPr>
          <p:cNvSpPr txBox="1"/>
          <p:nvPr/>
        </p:nvSpPr>
        <p:spPr>
          <a:xfrm>
            <a:off x="4042636" y="12988690"/>
            <a:ext cx="3961412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078.490.744-75</a:t>
            </a:r>
          </a:p>
        </p:txBody>
      </p:sp>
    </p:spTree>
    <p:extLst>
      <p:ext uri="{BB962C8B-B14F-4D97-AF65-F5344CB8AC3E}">
        <p14:creationId xmlns:p14="http://schemas.microsoft.com/office/powerpoint/2010/main" val="712351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970067" y="7700537"/>
            <a:ext cx="17640600" cy="101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5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Alexandre Silva Da Costa</a:t>
            </a:r>
            <a:endParaRPr lang="en-US" sz="4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207875" y="11019546"/>
            <a:ext cx="20103136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88"/>
              </a:lnSpc>
            </a:pPr>
            <a:r>
              <a:rPr lang="pt-B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Sobre uso e guarda de EPI conforme exigências da </a:t>
            </a:r>
          </a:p>
          <a:p>
            <a:pPr algn="ctr">
              <a:lnSpc>
                <a:spcPct val="139988"/>
              </a:lnSpc>
            </a:pPr>
            <a:r>
              <a:rPr lang="pt-B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Norma Regulamentadora - NR 06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7207875" y="14733100"/>
            <a:ext cx="526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30/07/2026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2772752" y="14733100"/>
            <a:ext cx="526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Canteiro De Obras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9607362" y="14726500"/>
            <a:ext cx="929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latin typeface="Montserrat"/>
                <a:ea typeface="Montserrat"/>
                <a:cs typeface="Montserrat"/>
                <a:sym typeface="Montserrat"/>
              </a:rPr>
              <a:t>M A Construções E Serviços LTDA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676291" y="19348444"/>
            <a:ext cx="8728811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18"/>
              </a:lnSpc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Alexandre Silva Da costa</a:t>
            </a:r>
            <a:b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</a:b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CPF: 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026.357.974-39</a:t>
            </a:r>
          </a:p>
          <a:p>
            <a:pPr marL="0" marR="0" lvl="0" indent="0" algn="ctr" rtl="0">
              <a:lnSpc>
                <a:spcPct val="13991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7362" y="18859033"/>
            <a:ext cx="6003305" cy="235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260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970067" y="7700537"/>
            <a:ext cx="17640600" cy="101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5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Alexandre Silva Da Costa</a:t>
            </a:r>
            <a:endParaRPr lang="en-US" sz="4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207875" y="11019546"/>
            <a:ext cx="20103136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88"/>
              </a:lnSpc>
            </a:pPr>
            <a:r>
              <a:rPr lang="pt-B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Sobre uso e guarda de EPI conforme exigências da </a:t>
            </a:r>
          </a:p>
          <a:p>
            <a:pPr algn="ctr">
              <a:lnSpc>
                <a:spcPct val="139988"/>
              </a:lnSpc>
            </a:pPr>
            <a:r>
              <a:rPr lang="pt-B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Norma Regulamentadora - NR 06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7207875" y="14733100"/>
            <a:ext cx="526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30/07/2026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2772752" y="14690882"/>
            <a:ext cx="526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Canterio De Obras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9607362" y="14733100"/>
            <a:ext cx="929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latin typeface="Montserrat"/>
                <a:ea typeface="Montserrat"/>
                <a:cs typeface="Montserrat"/>
                <a:sym typeface="Montserrat"/>
              </a:rPr>
              <a:t>M A Construções E Serviços LTDA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676291" y="19348444"/>
            <a:ext cx="8728811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18"/>
              </a:lnSpc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Alexandre Silva Da costa</a:t>
            </a:r>
            <a:b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</a:b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CPF: 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026.357.974-39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7362" y="18859033"/>
            <a:ext cx="6003305" cy="235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964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/>
        </p:nvSpPr>
        <p:spPr>
          <a:xfrm>
            <a:off x="6200754" y="15729547"/>
            <a:ext cx="8133600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2A373F"/>
                </a:solidFill>
              </a:rPr>
              <a:t>Adeylton</a:t>
            </a:r>
            <a:r>
              <a:rPr lang="en-US" sz="3600" b="1" i="0" u="none" strike="noStrike" cap="none" dirty="0">
                <a:solidFill>
                  <a:srgbClr val="2A373F"/>
                </a:solidFill>
              </a:rPr>
              <a:t> da Silva </a:t>
            </a:r>
            <a:r>
              <a:rPr lang="en-US" sz="3600" b="1" i="0" u="none" strike="noStrike" cap="none" dirty="0" err="1">
                <a:solidFill>
                  <a:srgbClr val="2A373F"/>
                </a:solidFill>
              </a:rPr>
              <a:t>Araújo</a:t>
            </a:r>
            <a:endParaRPr sz="3600" b="1" dirty="0"/>
          </a:p>
          <a:p>
            <a:pPr marL="0" marR="0" lvl="0" indent="0" algn="l" rtl="0">
              <a:lnSpc>
                <a:spcPct val="1400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Técnico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em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Segurança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do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Trabalho</a:t>
            </a:r>
            <a:endParaRPr sz="3200" b="1" dirty="0">
              <a:solidFill>
                <a:srgbClr val="00B05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40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4949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SRTE N° 0009823/RN</a:t>
            </a:r>
            <a:endParaRPr sz="3200" dirty="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356159" y="7850478"/>
            <a:ext cx="7295778" cy="76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pt-BR" sz="3200" b="1" dirty="0">
                <a:latin typeface="Montserrat"/>
                <a:ea typeface="Montserrat"/>
                <a:cs typeface="Montserrat"/>
                <a:sym typeface="Montserrat"/>
              </a:rPr>
              <a:t>Treinamento de NR - 06</a:t>
            </a:r>
          </a:p>
        </p:txBody>
      </p:sp>
      <p:sp>
        <p:nvSpPr>
          <p:cNvPr id="101" name="Google Shape;101;p14"/>
          <p:cNvSpPr txBox="1"/>
          <p:nvPr/>
        </p:nvSpPr>
        <p:spPr>
          <a:xfrm>
            <a:off x="4251158" y="9477866"/>
            <a:ext cx="5360200" cy="477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Canteiro De Obras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4673021" y="10544306"/>
            <a:ext cx="4938337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30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/07/2026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731962" y="11339337"/>
            <a:ext cx="14529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 hora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3627548" y="12162525"/>
            <a:ext cx="9079069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Alexandre Silva Da Costa</a:t>
            </a:r>
          </a:p>
        </p:txBody>
      </p:sp>
      <p:sp>
        <p:nvSpPr>
          <p:cNvPr id="105" name="Google Shape;105;p14"/>
          <p:cNvSpPr txBox="1"/>
          <p:nvPr/>
        </p:nvSpPr>
        <p:spPr>
          <a:xfrm>
            <a:off x="4042636" y="12988690"/>
            <a:ext cx="3961412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026.357.974-39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xmlns="" id="{31A90F8C-A50F-56F6-6B1F-D67AFB17A276}"/>
              </a:ext>
            </a:extLst>
          </p:cNvPr>
          <p:cNvSpPr txBox="1"/>
          <p:nvPr/>
        </p:nvSpPr>
        <p:spPr>
          <a:xfrm>
            <a:off x="17409186" y="7643901"/>
            <a:ext cx="13680413" cy="61863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altLang="ko-KR" sz="3600" b="1" dirty="0">
                <a:cs typeface="Arial" panose="020B0604020202020204" pitchFamily="34" charset="0"/>
              </a:rPr>
              <a:t>a) descrição do equipamento e seus componentes;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b) risco ocupacional contra o qual o EPI oferece proteção;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c) restrições e limitações de proteção;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d) forma adequada de uso e ajuste;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e) manutenção e substituição; e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f) cuidados de limpeza, higienização, guarda e conservação.</a:t>
            </a:r>
          </a:p>
        </p:txBody>
      </p:sp>
      <p:sp>
        <p:nvSpPr>
          <p:cNvPr id="2" name="Google Shape;89;p13">
            <a:extLst>
              <a:ext uri="{FF2B5EF4-FFF2-40B4-BE49-F238E27FC236}">
                <a16:creationId xmlns:a16="http://schemas.microsoft.com/office/drawing/2014/main" xmlns="" id="{2D5D6162-5C9E-BD69-9F79-EFEEABE4BBF0}"/>
              </a:ext>
            </a:extLst>
          </p:cNvPr>
          <p:cNvSpPr txBox="1"/>
          <p:nvPr/>
        </p:nvSpPr>
        <p:spPr>
          <a:xfrm>
            <a:off x="4961808" y="8840191"/>
            <a:ext cx="929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latin typeface="Montserrat"/>
                <a:ea typeface="Montserrat"/>
                <a:cs typeface="Montserrat"/>
                <a:sym typeface="Montserrat"/>
              </a:rPr>
              <a:t>M A Construções E Serviços LTDA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325322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/>
        </p:nvSpPr>
        <p:spPr>
          <a:xfrm>
            <a:off x="6200754" y="15729547"/>
            <a:ext cx="8133600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2A373F"/>
                </a:solidFill>
              </a:rPr>
              <a:t>Adeylton</a:t>
            </a:r>
            <a:r>
              <a:rPr lang="en-US" sz="3600" b="1" i="0" u="none" strike="noStrike" cap="none" dirty="0">
                <a:solidFill>
                  <a:srgbClr val="2A373F"/>
                </a:solidFill>
              </a:rPr>
              <a:t> da Silva </a:t>
            </a:r>
            <a:r>
              <a:rPr lang="en-US" sz="3600" b="1" i="0" u="none" strike="noStrike" cap="none" dirty="0" err="1">
                <a:solidFill>
                  <a:srgbClr val="2A373F"/>
                </a:solidFill>
              </a:rPr>
              <a:t>Araújo</a:t>
            </a:r>
            <a:endParaRPr sz="3600" b="1" dirty="0"/>
          </a:p>
          <a:p>
            <a:pPr marL="0" marR="0" lvl="0" indent="0" algn="l" rtl="0">
              <a:lnSpc>
                <a:spcPct val="1400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Técnico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em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Segurança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do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Trabalho</a:t>
            </a:r>
            <a:endParaRPr sz="3200" b="1" dirty="0">
              <a:solidFill>
                <a:srgbClr val="00B05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40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4949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SRTE N° 0009823/RN</a:t>
            </a:r>
            <a:endParaRPr sz="3200" dirty="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356159" y="7850478"/>
            <a:ext cx="7295778" cy="76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pt-BR" sz="3200" b="1" dirty="0">
                <a:latin typeface="Montserrat"/>
                <a:ea typeface="Montserrat"/>
                <a:cs typeface="Montserrat"/>
                <a:sym typeface="Montserrat"/>
              </a:rPr>
              <a:t>Treinamento de NR - 06</a:t>
            </a:r>
          </a:p>
        </p:txBody>
      </p:sp>
      <p:sp>
        <p:nvSpPr>
          <p:cNvPr id="100" name="Google Shape;100;p14"/>
          <p:cNvSpPr txBox="1"/>
          <p:nvPr/>
        </p:nvSpPr>
        <p:spPr>
          <a:xfrm>
            <a:off x="4865531" y="8846506"/>
            <a:ext cx="7631269" cy="398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4273220" y="9711526"/>
            <a:ext cx="7295778" cy="398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Canteiro De Obras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4673021" y="10544306"/>
            <a:ext cx="4938337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30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/07/2026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731962" y="11339337"/>
            <a:ext cx="14529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 hora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3627549" y="12465614"/>
            <a:ext cx="9079068" cy="398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140021"/>
              </a:lnSpc>
            </a:pPr>
            <a:r>
              <a:rPr lang="en-US" sz="3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Alexandre Silva Da Costa</a:t>
            </a:r>
          </a:p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2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4042636" y="12988690"/>
            <a:ext cx="3961412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026.357.974-39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xmlns="" id="{31A90F8C-A50F-56F6-6B1F-D67AFB17A276}"/>
              </a:ext>
            </a:extLst>
          </p:cNvPr>
          <p:cNvSpPr txBox="1"/>
          <p:nvPr/>
        </p:nvSpPr>
        <p:spPr>
          <a:xfrm>
            <a:off x="17409186" y="7643901"/>
            <a:ext cx="13680413" cy="61863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altLang="ko-KR" sz="3600" b="1" dirty="0">
                <a:cs typeface="Arial" panose="020B0604020202020204" pitchFamily="34" charset="0"/>
              </a:rPr>
              <a:t>a) descrição do equipamento e seus componentes;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b) risco ocupacional contra o qual o EPI oferece proteção;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c) restrições e limitações de proteção;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d) forma adequada de uso e ajuste;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e) manutenção e substituição; e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f) cuidados de limpeza, higienização, guarda e conservação.</a:t>
            </a:r>
          </a:p>
        </p:txBody>
      </p:sp>
      <p:sp>
        <p:nvSpPr>
          <p:cNvPr id="2" name="Google Shape;89;p13">
            <a:extLst>
              <a:ext uri="{FF2B5EF4-FFF2-40B4-BE49-F238E27FC236}">
                <a16:creationId xmlns:a16="http://schemas.microsoft.com/office/drawing/2014/main" xmlns="" id="{4DB91DB7-DA7E-A64F-8EDC-0BC01480B658}"/>
              </a:ext>
            </a:extLst>
          </p:cNvPr>
          <p:cNvSpPr txBox="1"/>
          <p:nvPr/>
        </p:nvSpPr>
        <p:spPr>
          <a:xfrm>
            <a:off x="4961808" y="8782580"/>
            <a:ext cx="929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latin typeface="Montserrat"/>
                <a:ea typeface="Montserrat"/>
                <a:cs typeface="Montserrat"/>
                <a:sym typeface="Montserrat"/>
              </a:rPr>
              <a:t>M A Construções E Serviços LTDA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6667981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970067" y="7700537"/>
            <a:ext cx="17640600" cy="101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5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Adeilton Vieira Barreto</a:t>
            </a:r>
            <a:endParaRPr lang="en-US" sz="4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207875" y="11019546"/>
            <a:ext cx="20103136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88"/>
              </a:lnSpc>
            </a:pPr>
            <a:r>
              <a:rPr lang="pt-B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Sobre uso e guarda de EPI conforme exigências da </a:t>
            </a:r>
          </a:p>
          <a:p>
            <a:pPr algn="ctr">
              <a:lnSpc>
                <a:spcPct val="139988"/>
              </a:lnSpc>
            </a:pPr>
            <a:r>
              <a:rPr lang="pt-B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Norma Regulamentadora - NR 06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7207875" y="14733100"/>
            <a:ext cx="526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30/07/2026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2772752" y="14733100"/>
            <a:ext cx="526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Canteiro De Obras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9103539" y="14726500"/>
            <a:ext cx="929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latin typeface="Montserrat"/>
                <a:ea typeface="Montserrat"/>
                <a:cs typeface="Montserrat"/>
                <a:sym typeface="Montserrat"/>
              </a:rPr>
              <a:t>MVP Engenharia E Construção LTDA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676291" y="19348444"/>
            <a:ext cx="8728811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18"/>
              </a:lnSpc>
            </a:pPr>
            <a:r>
              <a:rPr lang="en-US" sz="3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Adeilton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 Vieira Barreto</a:t>
            </a:r>
            <a:b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</a:b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CPF: 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088.824.344-47</a:t>
            </a:r>
          </a:p>
          <a:p>
            <a:pPr marL="0" marR="0" lvl="0" indent="0" algn="ctr" rtl="0">
              <a:lnSpc>
                <a:spcPct val="13991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7362" y="18859033"/>
            <a:ext cx="6003305" cy="235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656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970067" y="7700537"/>
            <a:ext cx="17640600" cy="101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5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Adeilton Vieira Barreto</a:t>
            </a:r>
            <a:endParaRPr lang="en-US" sz="4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207875" y="11019546"/>
            <a:ext cx="20103136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88"/>
              </a:lnSpc>
            </a:pPr>
            <a:r>
              <a:rPr lang="pt-B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Sobre uso e guarda de EPI conforme exigências da </a:t>
            </a:r>
          </a:p>
          <a:p>
            <a:pPr algn="ctr">
              <a:lnSpc>
                <a:spcPct val="139988"/>
              </a:lnSpc>
            </a:pPr>
            <a:r>
              <a:rPr lang="pt-B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Norma Regulamentadora - NR 06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7207875" y="14733100"/>
            <a:ext cx="526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30/07/2026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2739277" y="14733100"/>
            <a:ext cx="526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Canteiro De Obras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9607362" y="14628050"/>
            <a:ext cx="929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latin typeface="Montserrat"/>
                <a:ea typeface="Montserrat"/>
                <a:cs typeface="Montserrat"/>
                <a:sym typeface="Montserrat"/>
              </a:rPr>
              <a:t>MVP Engenharia E Construção LTDA</a:t>
            </a:r>
          </a:p>
        </p:txBody>
      </p:sp>
      <p:sp>
        <p:nvSpPr>
          <p:cNvPr id="91" name="Google Shape;91;p13"/>
          <p:cNvSpPr txBox="1"/>
          <p:nvPr/>
        </p:nvSpPr>
        <p:spPr>
          <a:xfrm>
            <a:off x="6676291" y="19348444"/>
            <a:ext cx="8728811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18"/>
              </a:lnSpc>
            </a:pPr>
            <a:r>
              <a:rPr lang="en-US" sz="3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Adeilton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 Vieira Barreto</a:t>
            </a:r>
            <a:b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</a:b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CPF: 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088.824.344-47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7362" y="18859033"/>
            <a:ext cx="6003305" cy="235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759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/>
        </p:nvSpPr>
        <p:spPr>
          <a:xfrm>
            <a:off x="6200754" y="15729547"/>
            <a:ext cx="8133600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2A373F"/>
                </a:solidFill>
              </a:rPr>
              <a:t>Adeylton</a:t>
            </a:r>
            <a:r>
              <a:rPr lang="en-US" sz="3600" b="1" i="0" u="none" strike="noStrike" cap="none" dirty="0">
                <a:solidFill>
                  <a:srgbClr val="2A373F"/>
                </a:solidFill>
              </a:rPr>
              <a:t> da Silva </a:t>
            </a:r>
            <a:r>
              <a:rPr lang="en-US" sz="3600" b="1" i="0" u="none" strike="noStrike" cap="none" dirty="0" err="1">
                <a:solidFill>
                  <a:srgbClr val="2A373F"/>
                </a:solidFill>
              </a:rPr>
              <a:t>Araújo</a:t>
            </a:r>
            <a:endParaRPr sz="3600" b="1" dirty="0"/>
          </a:p>
          <a:p>
            <a:pPr marL="0" marR="0" lvl="0" indent="0" algn="l" rtl="0">
              <a:lnSpc>
                <a:spcPct val="1400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Técnico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em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Segurança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do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Trabalho</a:t>
            </a:r>
            <a:endParaRPr sz="3200" b="1" dirty="0">
              <a:solidFill>
                <a:srgbClr val="00B05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40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4949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SRTE N° 0009823/RN</a:t>
            </a:r>
            <a:endParaRPr sz="3200" dirty="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356159" y="7850478"/>
            <a:ext cx="7295778" cy="76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pt-BR" sz="3200" b="1" dirty="0">
                <a:latin typeface="Montserrat"/>
                <a:ea typeface="Montserrat"/>
                <a:cs typeface="Montserrat"/>
                <a:sym typeface="Montserrat"/>
              </a:rPr>
              <a:t>Treinamento de NR - 06</a:t>
            </a:r>
          </a:p>
        </p:txBody>
      </p:sp>
      <p:sp>
        <p:nvSpPr>
          <p:cNvPr id="100" name="Google Shape;100;p14"/>
          <p:cNvSpPr txBox="1"/>
          <p:nvPr/>
        </p:nvSpPr>
        <p:spPr>
          <a:xfrm>
            <a:off x="4865531" y="8981003"/>
            <a:ext cx="8515879" cy="264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en-US" sz="3200" b="1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MVP Engenharia E Construção LTDA</a:t>
            </a:r>
            <a:endParaRPr lang="en-US"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4251158" y="9788967"/>
            <a:ext cx="4938337" cy="4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Canteiro De Obras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4673021" y="10544306"/>
            <a:ext cx="4938337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30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/07/2026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731962" y="11339337"/>
            <a:ext cx="14529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 hora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3269636" y="12164013"/>
            <a:ext cx="9468823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Adeilton</a:t>
            </a:r>
            <a:r>
              <a:rPr lang="en-US" sz="3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Vieira Barreto</a:t>
            </a:r>
          </a:p>
        </p:txBody>
      </p:sp>
      <p:sp>
        <p:nvSpPr>
          <p:cNvPr id="105" name="Google Shape;105;p14"/>
          <p:cNvSpPr txBox="1"/>
          <p:nvPr/>
        </p:nvSpPr>
        <p:spPr>
          <a:xfrm>
            <a:off x="4042636" y="12988690"/>
            <a:ext cx="3961412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088.824.344-47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xmlns="" id="{31A90F8C-A50F-56F6-6B1F-D67AFB17A276}"/>
              </a:ext>
            </a:extLst>
          </p:cNvPr>
          <p:cNvSpPr txBox="1"/>
          <p:nvPr/>
        </p:nvSpPr>
        <p:spPr>
          <a:xfrm>
            <a:off x="17409186" y="7643901"/>
            <a:ext cx="13680413" cy="61863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altLang="ko-KR" sz="3600" b="1" dirty="0">
                <a:cs typeface="Arial" panose="020B0604020202020204" pitchFamily="34" charset="0"/>
              </a:rPr>
              <a:t>a) descrição do equipamento e seus componentes;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b) risco ocupacional contra o qual o EPI oferece proteção;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c) restrições e limitações de proteção;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d) forma adequada de uso e ajuste;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e) manutenção e substituição; e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f) cuidados de limpeza, higienização, guarda e conservação.</a:t>
            </a:r>
          </a:p>
        </p:txBody>
      </p:sp>
    </p:spTree>
    <p:extLst>
      <p:ext uri="{BB962C8B-B14F-4D97-AF65-F5344CB8AC3E}">
        <p14:creationId xmlns:p14="http://schemas.microsoft.com/office/powerpoint/2010/main" val="18256916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/>
        </p:nvSpPr>
        <p:spPr>
          <a:xfrm>
            <a:off x="6200754" y="15729547"/>
            <a:ext cx="8133600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2A373F"/>
                </a:solidFill>
              </a:rPr>
              <a:t>Adeylton</a:t>
            </a:r>
            <a:r>
              <a:rPr lang="en-US" sz="3600" b="1" i="0" u="none" strike="noStrike" cap="none" dirty="0">
                <a:solidFill>
                  <a:srgbClr val="2A373F"/>
                </a:solidFill>
              </a:rPr>
              <a:t> da Silva </a:t>
            </a:r>
            <a:r>
              <a:rPr lang="en-US" sz="3600" b="1" i="0" u="none" strike="noStrike" cap="none" dirty="0" err="1">
                <a:solidFill>
                  <a:srgbClr val="2A373F"/>
                </a:solidFill>
              </a:rPr>
              <a:t>Araújo</a:t>
            </a:r>
            <a:endParaRPr sz="3600" b="1" dirty="0"/>
          </a:p>
          <a:p>
            <a:pPr marL="0" marR="0" lvl="0" indent="0" algn="l" rtl="0">
              <a:lnSpc>
                <a:spcPct val="1400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Técnico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em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Segurança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do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Trabalho</a:t>
            </a:r>
            <a:endParaRPr sz="3200" b="1" dirty="0">
              <a:solidFill>
                <a:srgbClr val="00B05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40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4949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SRTE N° 0009823/RN</a:t>
            </a:r>
            <a:endParaRPr sz="3200" dirty="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356159" y="7850478"/>
            <a:ext cx="7295778" cy="76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pt-BR" sz="3200" b="1" dirty="0">
                <a:latin typeface="Montserrat"/>
                <a:ea typeface="Montserrat"/>
                <a:cs typeface="Montserrat"/>
                <a:sym typeface="Montserrat"/>
              </a:rPr>
              <a:t>Treinamento de NR - 06</a:t>
            </a:r>
          </a:p>
        </p:txBody>
      </p:sp>
      <p:sp>
        <p:nvSpPr>
          <p:cNvPr id="100" name="Google Shape;100;p14"/>
          <p:cNvSpPr txBox="1"/>
          <p:nvPr/>
        </p:nvSpPr>
        <p:spPr>
          <a:xfrm>
            <a:off x="4865531" y="8859737"/>
            <a:ext cx="9468823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en-US" sz="3200" b="1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MVP Engenharia E Construção LTDA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4251158" y="9788967"/>
            <a:ext cx="4486442" cy="57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Canteiro De Obras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4865531" y="10506088"/>
            <a:ext cx="4938337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30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/07/2026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731962" y="11339337"/>
            <a:ext cx="14529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 hora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3269636" y="12164013"/>
            <a:ext cx="9468823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Adeilton</a:t>
            </a:r>
            <a:r>
              <a:rPr lang="en-US" sz="3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Vieira Barreto</a:t>
            </a:r>
          </a:p>
        </p:txBody>
      </p:sp>
      <p:sp>
        <p:nvSpPr>
          <p:cNvPr id="105" name="Google Shape;105;p14"/>
          <p:cNvSpPr txBox="1"/>
          <p:nvPr/>
        </p:nvSpPr>
        <p:spPr>
          <a:xfrm>
            <a:off x="4042636" y="12988690"/>
            <a:ext cx="3961412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endParaRPr lang="en-US"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xmlns="" id="{31A90F8C-A50F-56F6-6B1F-D67AFB17A276}"/>
              </a:ext>
            </a:extLst>
          </p:cNvPr>
          <p:cNvSpPr txBox="1"/>
          <p:nvPr/>
        </p:nvSpPr>
        <p:spPr>
          <a:xfrm>
            <a:off x="17409186" y="7643901"/>
            <a:ext cx="13680413" cy="61863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altLang="ko-KR" sz="3600" b="1" dirty="0">
                <a:cs typeface="Arial" panose="020B0604020202020204" pitchFamily="34" charset="0"/>
              </a:rPr>
              <a:t>a) descrição do equipamento e seus componentes;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b) risco ocupacional contra o qual o EPI oferece proteção;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c) restrições e limitações de proteção;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d) forma adequada de uso e ajuste;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e) manutenção e substituição; e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f) cuidados de limpeza, higienização, guarda e conservação.</a:t>
            </a:r>
          </a:p>
        </p:txBody>
      </p:sp>
      <p:sp>
        <p:nvSpPr>
          <p:cNvPr id="3" name="Google Shape;105;p14">
            <a:extLst>
              <a:ext uri="{FF2B5EF4-FFF2-40B4-BE49-F238E27FC236}">
                <a16:creationId xmlns:a16="http://schemas.microsoft.com/office/drawing/2014/main" xmlns="" id="{A28DAA02-7A89-D0DB-4371-9BC3DA63B6A0}"/>
              </a:ext>
            </a:extLst>
          </p:cNvPr>
          <p:cNvSpPr txBox="1"/>
          <p:nvPr/>
        </p:nvSpPr>
        <p:spPr>
          <a:xfrm>
            <a:off x="4188939" y="12988690"/>
            <a:ext cx="3961412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088.824.344-47</a:t>
            </a:r>
          </a:p>
        </p:txBody>
      </p:sp>
    </p:spTree>
    <p:extLst>
      <p:ext uri="{BB962C8B-B14F-4D97-AF65-F5344CB8AC3E}">
        <p14:creationId xmlns:p14="http://schemas.microsoft.com/office/powerpoint/2010/main" val="7760049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970067" y="7700537"/>
            <a:ext cx="17640600" cy="101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5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David Victor Epaminondas</a:t>
            </a:r>
            <a:endParaRPr lang="en-US" sz="4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207875" y="11019546"/>
            <a:ext cx="20103136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88"/>
              </a:lnSpc>
            </a:pPr>
            <a:r>
              <a:rPr lang="pt-B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Sobre uso e guarda de EPI conforme exigências da </a:t>
            </a:r>
          </a:p>
          <a:p>
            <a:pPr algn="ctr">
              <a:lnSpc>
                <a:spcPct val="139988"/>
              </a:lnSpc>
            </a:pPr>
            <a:r>
              <a:rPr lang="pt-B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Norma Regulamentadora - NR 06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7207875" y="14733100"/>
            <a:ext cx="526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30/07/2026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2772752" y="14690882"/>
            <a:ext cx="526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Canteiro De Obras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9607362" y="14555829"/>
            <a:ext cx="929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latin typeface="Montserrat"/>
                <a:ea typeface="Montserrat"/>
                <a:cs typeface="Montserrat"/>
                <a:sym typeface="Montserrat"/>
              </a:rPr>
              <a:t>MVP Engenharia E Construção LTDA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676291" y="19348444"/>
            <a:ext cx="8728811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0E0E0E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David Victor Epaminondas </a:t>
            </a:r>
          </a:p>
          <a:p>
            <a:pPr marL="0" marR="0" lvl="0" indent="0" algn="ctr" rtl="0">
              <a:lnSpc>
                <a:spcPct val="139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0E0E0E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CPF: 137.807.144-18</a:t>
            </a:r>
            <a:endParaRPr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7362" y="18859033"/>
            <a:ext cx="6003305" cy="235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9497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970067" y="7700537"/>
            <a:ext cx="17640600" cy="101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5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David Victor Epaminondas</a:t>
            </a:r>
            <a:endParaRPr lang="en-US" sz="4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207875" y="11019546"/>
            <a:ext cx="20103136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88"/>
              </a:lnSpc>
            </a:pPr>
            <a:r>
              <a:rPr lang="pt-B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Sobre uso e guarda de EPI conforme exigências da </a:t>
            </a:r>
          </a:p>
          <a:p>
            <a:pPr algn="ctr">
              <a:lnSpc>
                <a:spcPct val="139988"/>
              </a:lnSpc>
            </a:pPr>
            <a:r>
              <a:rPr lang="pt-B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Norma Regulamentadora - NR 06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7207875" y="14733100"/>
            <a:ext cx="526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30/07/2026</a:t>
            </a:r>
            <a:endParaRPr lang="en-US"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2772752" y="14704841"/>
            <a:ext cx="526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Canteiro De Obras</a:t>
            </a:r>
            <a:endParaRPr lang="en-US"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9607362" y="14704841"/>
            <a:ext cx="929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latin typeface="Montserrat"/>
                <a:ea typeface="Montserrat"/>
                <a:cs typeface="Montserrat"/>
                <a:sym typeface="Montserrat"/>
              </a:rPr>
              <a:t>MVP Engenharia E Construção LTDA</a:t>
            </a:r>
          </a:p>
        </p:txBody>
      </p:sp>
      <p:sp>
        <p:nvSpPr>
          <p:cNvPr id="91" name="Google Shape;91;p13"/>
          <p:cNvSpPr txBox="1"/>
          <p:nvPr/>
        </p:nvSpPr>
        <p:spPr>
          <a:xfrm>
            <a:off x="6676291" y="19348444"/>
            <a:ext cx="8728811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David Victor Epaminondas </a:t>
            </a:r>
          </a:p>
          <a:p>
            <a:pPr marL="0" marR="0" lvl="0" indent="0" algn="ctr" rtl="0">
              <a:lnSpc>
                <a:spcPct val="139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CPF: 137.807.144-18</a:t>
            </a:r>
            <a:endParaRPr lang="pt-BR" sz="32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7362" y="18859033"/>
            <a:ext cx="6003305" cy="235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1590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/>
        </p:nvSpPr>
        <p:spPr>
          <a:xfrm>
            <a:off x="6200754" y="15729547"/>
            <a:ext cx="8133600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2A373F"/>
                </a:solidFill>
              </a:rPr>
              <a:t>Adeylton</a:t>
            </a:r>
            <a:r>
              <a:rPr lang="en-US" sz="3600" b="1" i="0" u="none" strike="noStrike" cap="none" dirty="0">
                <a:solidFill>
                  <a:srgbClr val="2A373F"/>
                </a:solidFill>
              </a:rPr>
              <a:t> da Silva </a:t>
            </a:r>
            <a:r>
              <a:rPr lang="en-US" sz="3600" b="1" i="0" u="none" strike="noStrike" cap="none" dirty="0" err="1">
                <a:solidFill>
                  <a:srgbClr val="2A373F"/>
                </a:solidFill>
              </a:rPr>
              <a:t>Araújo</a:t>
            </a:r>
            <a:endParaRPr sz="3600" b="1" dirty="0"/>
          </a:p>
          <a:p>
            <a:pPr marL="0" marR="0" lvl="0" indent="0" algn="l" rtl="0">
              <a:lnSpc>
                <a:spcPct val="1400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Técnico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em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Segurança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do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Trabalho</a:t>
            </a:r>
            <a:endParaRPr sz="3200" b="1" dirty="0">
              <a:solidFill>
                <a:srgbClr val="00B05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40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4949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SRTE N° 0009823/RN</a:t>
            </a:r>
            <a:endParaRPr sz="3200" dirty="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356159" y="7850478"/>
            <a:ext cx="7295778" cy="76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pt-BR" sz="3200" b="1" dirty="0">
                <a:latin typeface="Montserrat"/>
                <a:ea typeface="Montserrat"/>
                <a:cs typeface="Montserrat"/>
                <a:sym typeface="Montserrat"/>
              </a:rPr>
              <a:t>Treinamento de NR - 06</a:t>
            </a:r>
          </a:p>
        </p:txBody>
      </p:sp>
      <p:sp>
        <p:nvSpPr>
          <p:cNvPr id="100" name="Google Shape;100;p14"/>
          <p:cNvSpPr txBox="1"/>
          <p:nvPr/>
        </p:nvSpPr>
        <p:spPr>
          <a:xfrm>
            <a:off x="4865531" y="8945605"/>
            <a:ext cx="8698069" cy="299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en-US" sz="3200" b="1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MVP Engenharia E Construção LTDA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4251158" y="9788967"/>
            <a:ext cx="3961412" cy="12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Canteiro De Obras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4673021" y="10544306"/>
            <a:ext cx="4938337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30/07/2026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731962" y="11339337"/>
            <a:ext cx="14529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 hora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3281150" y="12568199"/>
            <a:ext cx="9862840" cy="247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140021"/>
              </a:lnSpc>
            </a:pPr>
            <a:r>
              <a:rPr lang="en-US" sz="3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David Victor Epaminondas</a:t>
            </a:r>
          </a:p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2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4042636" y="12988690"/>
            <a:ext cx="3961412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137.807.144-18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xmlns="" id="{31A90F8C-A50F-56F6-6B1F-D67AFB17A276}"/>
              </a:ext>
            </a:extLst>
          </p:cNvPr>
          <p:cNvSpPr txBox="1"/>
          <p:nvPr/>
        </p:nvSpPr>
        <p:spPr>
          <a:xfrm>
            <a:off x="17409186" y="7643901"/>
            <a:ext cx="13680413" cy="61863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altLang="ko-KR" sz="3600" b="1" dirty="0">
                <a:cs typeface="Arial" panose="020B0604020202020204" pitchFamily="34" charset="0"/>
              </a:rPr>
              <a:t>a) descrição do equipamento e seus componentes;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b) risco ocupacional contra o qual o EPI oferece proteção;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c) restrições e limitações de proteção;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d) forma adequada de uso e ajuste;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e) manutenção e substituição; e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f) cuidados de limpeza, higienização, guarda e conservação.</a:t>
            </a:r>
          </a:p>
        </p:txBody>
      </p:sp>
    </p:spTree>
    <p:extLst>
      <p:ext uri="{BB962C8B-B14F-4D97-AF65-F5344CB8AC3E}">
        <p14:creationId xmlns:p14="http://schemas.microsoft.com/office/powerpoint/2010/main" val="38994976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/>
        </p:nvSpPr>
        <p:spPr>
          <a:xfrm>
            <a:off x="6200754" y="15729547"/>
            <a:ext cx="8133600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2A373F"/>
                </a:solidFill>
              </a:rPr>
              <a:t>Adeylton</a:t>
            </a:r>
            <a:r>
              <a:rPr lang="en-US" sz="3600" b="1" i="0" u="none" strike="noStrike" cap="none" dirty="0">
                <a:solidFill>
                  <a:srgbClr val="2A373F"/>
                </a:solidFill>
              </a:rPr>
              <a:t> da Silva </a:t>
            </a:r>
            <a:r>
              <a:rPr lang="en-US" sz="3600" b="1" i="0" u="none" strike="noStrike" cap="none" dirty="0" err="1">
                <a:solidFill>
                  <a:srgbClr val="2A373F"/>
                </a:solidFill>
              </a:rPr>
              <a:t>Araújo</a:t>
            </a:r>
            <a:endParaRPr sz="3600" b="1" dirty="0"/>
          </a:p>
          <a:p>
            <a:pPr marL="0" marR="0" lvl="0" indent="0" algn="l" rtl="0">
              <a:lnSpc>
                <a:spcPct val="1400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Técnico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em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Segurança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do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Trabalho</a:t>
            </a:r>
            <a:endParaRPr sz="3200" b="1" dirty="0">
              <a:solidFill>
                <a:srgbClr val="00B05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40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4949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SRTE N° 0009823/RN</a:t>
            </a:r>
            <a:endParaRPr sz="3200" dirty="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356159" y="7850478"/>
            <a:ext cx="7295778" cy="76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pt-BR" sz="3200" b="1" dirty="0">
                <a:latin typeface="Montserrat"/>
                <a:ea typeface="Montserrat"/>
                <a:cs typeface="Montserrat"/>
                <a:sym typeface="Montserrat"/>
              </a:rPr>
              <a:t>Treinamento de NR - 06</a:t>
            </a:r>
          </a:p>
        </p:txBody>
      </p:sp>
      <p:sp>
        <p:nvSpPr>
          <p:cNvPr id="100" name="Google Shape;100;p14"/>
          <p:cNvSpPr txBox="1"/>
          <p:nvPr/>
        </p:nvSpPr>
        <p:spPr>
          <a:xfrm>
            <a:off x="4865531" y="8700052"/>
            <a:ext cx="8799669" cy="545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en-US" sz="3200" b="1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MVP Engenharia E Construção LTDA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4285666" y="9688589"/>
            <a:ext cx="53602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Canteiro De Obras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4865531" y="10505421"/>
            <a:ext cx="4938337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30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/07/2026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731962" y="11339337"/>
            <a:ext cx="14529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 hora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3269636" y="12517015"/>
            <a:ext cx="9468823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140021"/>
              </a:lnSpc>
            </a:pPr>
            <a:r>
              <a:rPr lang="en-US" sz="3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 David Victor Epaminondas</a:t>
            </a:r>
          </a:p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2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4042636" y="12988690"/>
            <a:ext cx="3961412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137.807.144-18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xmlns="" id="{31A90F8C-A50F-56F6-6B1F-D67AFB17A276}"/>
              </a:ext>
            </a:extLst>
          </p:cNvPr>
          <p:cNvSpPr txBox="1"/>
          <p:nvPr/>
        </p:nvSpPr>
        <p:spPr>
          <a:xfrm>
            <a:off x="17409186" y="7643901"/>
            <a:ext cx="13680413" cy="61863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altLang="ko-KR" sz="3600" b="1" dirty="0">
                <a:cs typeface="Arial" panose="020B0604020202020204" pitchFamily="34" charset="0"/>
              </a:rPr>
              <a:t>a) descrição do equipamento e seus componentes;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b) risco ocupacional contra o qual o EPI oferece proteção;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c) restrições e limitações de proteção;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d) forma adequada de uso e ajuste;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e) manutenção e substituição; e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f) cuidados de limpeza, higienização, guarda e conservação.</a:t>
            </a:r>
          </a:p>
        </p:txBody>
      </p:sp>
    </p:spTree>
    <p:extLst>
      <p:ext uri="{BB962C8B-B14F-4D97-AF65-F5344CB8AC3E}">
        <p14:creationId xmlns:p14="http://schemas.microsoft.com/office/powerpoint/2010/main" val="5969475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970067" y="7700537"/>
            <a:ext cx="17640600" cy="101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5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Julio Cesar Trindade De Souza</a:t>
            </a:r>
            <a:endParaRPr lang="en-US" sz="4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207875" y="11019546"/>
            <a:ext cx="20103136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88"/>
              </a:lnSpc>
            </a:pPr>
            <a:r>
              <a:rPr lang="pt-B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Sobre uso e guarda de EPI conforme exigências da </a:t>
            </a:r>
          </a:p>
          <a:p>
            <a:pPr algn="ctr">
              <a:lnSpc>
                <a:spcPct val="139988"/>
              </a:lnSpc>
            </a:pPr>
            <a:r>
              <a:rPr lang="pt-B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Norma Regulamentadora - NR 06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7207875" y="14733100"/>
            <a:ext cx="526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30/07/2026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2772752" y="14690882"/>
            <a:ext cx="526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Canteiro De Obras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9854387" y="14555829"/>
            <a:ext cx="929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latin typeface="Montserrat"/>
                <a:ea typeface="Montserrat"/>
                <a:cs typeface="Montserrat"/>
                <a:sym typeface="Montserrat"/>
              </a:rPr>
              <a:t>MVP Engenharia E Construção LTDA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676291" y="19348444"/>
            <a:ext cx="8728811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18"/>
              </a:lnSpc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Julio Cesar </a:t>
            </a:r>
            <a:r>
              <a:rPr lang="en-US" sz="3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Trintade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 DeSouza</a:t>
            </a:r>
            <a:b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</a:b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CPF: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017.318.724-29</a:t>
            </a:r>
          </a:p>
          <a:p>
            <a:pPr marL="0" marR="0" lvl="0" indent="0" algn="ctr" rtl="0">
              <a:lnSpc>
                <a:spcPct val="13991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7362" y="18859033"/>
            <a:ext cx="6003305" cy="235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9182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970067" y="7700537"/>
            <a:ext cx="17640600" cy="101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5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Julio Cesar Trindade De Souza</a:t>
            </a:r>
            <a:endParaRPr lang="en-US" sz="4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207875" y="11019546"/>
            <a:ext cx="20103136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88"/>
              </a:lnSpc>
            </a:pPr>
            <a:r>
              <a:rPr lang="pt-B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Sobre uso e guarda de EPI conforme exigências da </a:t>
            </a:r>
          </a:p>
          <a:p>
            <a:pPr algn="ctr">
              <a:lnSpc>
                <a:spcPct val="139988"/>
              </a:lnSpc>
            </a:pPr>
            <a:r>
              <a:rPr lang="pt-B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Norma Regulamentadora - NR 06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7207875" y="14733100"/>
            <a:ext cx="526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30/07/2026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2772752" y="14690882"/>
            <a:ext cx="526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Canteiro De Obras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9607362" y="14648882"/>
            <a:ext cx="929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latin typeface="Montserrat"/>
                <a:ea typeface="Montserrat"/>
                <a:cs typeface="Montserrat"/>
                <a:sym typeface="Montserrat"/>
              </a:rPr>
              <a:t>MVP Engenharia E Construção LTDA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676291" y="19348444"/>
            <a:ext cx="8728811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err="1">
                <a:solidFill>
                  <a:srgbClr val="0E0E0E"/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Participante</a:t>
            </a:r>
            <a:endParaRPr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7362" y="18859033"/>
            <a:ext cx="6003305" cy="235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1861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/>
        </p:nvSpPr>
        <p:spPr>
          <a:xfrm>
            <a:off x="6200754" y="15729547"/>
            <a:ext cx="8133600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2A373F"/>
                </a:solidFill>
              </a:rPr>
              <a:t>Adeylton</a:t>
            </a:r>
            <a:r>
              <a:rPr lang="en-US" sz="3600" b="1" i="0" u="none" strike="noStrike" cap="none" dirty="0">
                <a:solidFill>
                  <a:srgbClr val="2A373F"/>
                </a:solidFill>
              </a:rPr>
              <a:t> da Silva </a:t>
            </a:r>
            <a:r>
              <a:rPr lang="en-US" sz="3600" b="1" i="0" u="none" strike="noStrike" cap="none" dirty="0" err="1">
                <a:solidFill>
                  <a:srgbClr val="2A373F"/>
                </a:solidFill>
              </a:rPr>
              <a:t>Araújo</a:t>
            </a:r>
            <a:endParaRPr sz="3600" b="1" dirty="0"/>
          </a:p>
          <a:p>
            <a:pPr marL="0" marR="0" lvl="0" indent="0" algn="l" rtl="0">
              <a:lnSpc>
                <a:spcPct val="1400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Técnico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em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Segurança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do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Trabalho</a:t>
            </a:r>
            <a:endParaRPr sz="3200" b="1" dirty="0">
              <a:solidFill>
                <a:srgbClr val="00B05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40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4949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SRTE N° 0009823/RN</a:t>
            </a:r>
            <a:endParaRPr sz="3200" dirty="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356159" y="7850478"/>
            <a:ext cx="7295778" cy="76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pt-BR" sz="3200" b="1" dirty="0">
                <a:latin typeface="Montserrat"/>
                <a:ea typeface="Montserrat"/>
                <a:cs typeface="Montserrat"/>
                <a:sym typeface="Montserrat"/>
              </a:rPr>
              <a:t>Treinamento de NR - 06</a:t>
            </a:r>
          </a:p>
        </p:txBody>
      </p:sp>
      <p:sp>
        <p:nvSpPr>
          <p:cNvPr id="100" name="Google Shape;100;p14"/>
          <p:cNvSpPr txBox="1"/>
          <p:nvPr/>
        </p:nvSpPr>
        <p:spPr>
          <a:xfrm>
            <a:off x="4865531" y="8983980"/>
            <a:ext cx="8888958" cy="261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en-US" sz="3200" b="1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MVP Engenharia E Construção LTDA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4285666" y="9688589"/>
            <a:ext cx="53602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Canteiro De Obras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4865531" y="10505421"/>
            <a:ext cx="4938337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30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/07/2026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731962" y="11339337"/>
            <a:ext cx="14529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 hora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3858173" y="12603190"/>
            <a:ext cx="9468823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140021"/>
              </a:lnSpc>
            </a:pPr>
            <a:r>
              <a:rPr lang="en-US" sz="3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 Julio Cesar Trindade De Souza</a:t>
            </a:r>
          </a:p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2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4042636" y="12988690"/>
            <a:ext cx="3961412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017.318.724-29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xmlns="" id="{31A90F8C-A50F-56F6-6B1F-D67AFB17A276}"/>
              </a:ext>
            </a:extLst>
          </p:cNvPr>
          <p:cNvSpPr txBox="1"/>
          <p:nvPr/>
        </p:nvSpPr>
        <p:spPr>
          <a:xfrm>
            <a:off x="17409186" y="7643901"/>
            <a:ext cx="13680413" cy="61863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altLang="ko-KR" sz="3600" b="1" dirty="0">
                <a:cs typeface="Arial" panose="020B0604020202020204" pitchFamily="34" charset="0"/>
              </a:rPr>
              <a:t>a) descrição do equipamento e seus componentes;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b) risco ocupacional contra o qual o EPI oferece proteção;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c) restrições e limitações de proteção;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d) forma adequada de uso e ajuste;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e) manutenção e substituição; e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f) cuidados de limpeza, higienização, guarda e conservação.</a:t>
            </a:r>
          </a:p>
        </p:txBody>
      </p:sp>
    </p:spTree>
    <p:extLst>
      <p:ext uri="{BB962C8B-B14F-4D97-AF65-F5344CB8AC3E}">
        <p14:creationId xmlns:p14="http://schemas.microsoft.com/office/powerpoint/2010/main" val="13600390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/>
        </p:nvSpPr>
        <p:spPr>
          <a:xfrm>
            <a:off x="6200754" y="15729547"/>
            <a:ext cx="8133600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2A373F"/>
                </a:solidFill>
              </a:rPr>
              <a:t>Adeylton</a:t>
            </a:r>
            <a:r>
              <a:rPr lang="en-US" sz="3600" b="1" i="0" u="none" strike="noStrike" cap="none" dirty="0">
                <a:solidFill>
                  <a:srgbClr val="2A373F"/>
                </a:solidFill>
              </a:rPr>
              <a:t> da Silva </a:t>
            </a:r>
            <a:r>
              <a:rPr lang="en-US" sz="3600" b="1" i="0" u="none" strike="noStrike" cap="none" dirty="0" err="1">
                <a:solidFill>
                  <a:srgbClr val="2A373F"/>
                </a:solidFill>
              </a:rPr>
              <a:t>Araújo</a:t>
            </a:r>
            <a:endParaRPr sz="3600" b="1" dirty="0"/>
          </a:p>
          <a:p>
            <a:pPr marL="0" marR="0" lvl="0" indent="0" algn="l" rtl="0">
              <a:lnSpc>
                <a:spcPct val="1400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Técnico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em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Segurança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do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Trabalho</a:t>
            </a:r>
            <a:endParaRPr sz="3200" b="1" dirty="0">
              <a:solidFill>
                <a:srgbClr val="00B05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40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4949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SRTE N° 0009823/RN</a:t>
            </a:r>
            <a:endParaRPr sz="3200" dirty="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356159" y="7850478"/>
            <a:ext cx="7295778" cy="76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pt-BR" sz="3200" b="1" dirty="0">
                <a:latin typeface="Montserrat"/>
                <a:ea typeface="Montserrat"/>
                <a:cs typeface="Montserrat"/>
                <a:sym typeface="Montserrat"/>
              </a:rPr>
              <a:t>Treinamento de NR - 06</a:t>
            </a:r>
          </a:p>
        </p:txBody>
      </p:sp>
      <p:sp>
        <p:nvSpPr>
          <p:cNvPr id="100" name="Google Shape;100;p14"/>
          <p:cNvSpPr txBox="1"/>
          <p:nvPr/>
        </p:nvSpPr>
        <p:spPr>
          <a:xfrm>
            <a:off x="4865531" y="8846506"/>
            <a:ext cx="7631269" cy="398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4285666" y="9688589"/>
            <a:ext cx="53602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Canteiro De Obras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4865531" y="10505421"/>
            <a:ext cx="4938337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30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/07/2026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731962" y="11339337"/>
            <a:ext cx="14529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 hora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3946753" y="12517015"/>
            <a:ext cx="9468823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140021"/>
              </a:lnSpc>
            </a:pPr>
            <a:r>
              <a:rPr lang="en-US" sz="3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Julio Cesar Trindade De Souza</a:t>
            </a:r>
          </a:p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2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4042636" y="12988690"/>
            <a:ext cx="3961412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017.318.724-29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xmlns="" id="{31A90F8C-A50F-56F6-6B1F-D67AFB17A276}"/>
              </a:ext>
            </a:extLst>
          </p:cNvPr>
          <p:cNvSpPr txBox="1"/>
          <p:nvPr/>
        </p:nvSpPr>
        <p:spPr>
          <a:xfrm>
            <a:off x="17409186" y="7643901"/>
            <a:ext cx="13680413" cy="61863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altLang="ko-KR" sz="3600" b="1" dirty="0">
                <a:cs typeface="Arial" panose="020B0604020202020204" pitchFamily="34" charset="0"/>
              </a:rPr>
              <a:t>a) descrição do equipamento e seus componentes;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b) risco ocupacional contra o qual o EPI oferece proteção;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c) restrições e limitações de proteção;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d) forma adequada de uso e ajuste;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e) manutenção e substituição; e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f) cuidados de limpeza, higienização, guarda e conservação.</a:t>
            </a:r>
          </a:p>
        </p:txBody>
      </p:sp>
      <p:sp>
        <p:nvSpPr>
          <p:cNvPr id="2" name="Google Shape;100;p14">
            <a:extLst>
              <a:ext uri="{FF2B5EF4-FFF2-40B4-BE49-F238E27FC236}">
                <a16:creationId xmlns:a16="http://schemas.microsoft.com/office/drawing/2014/main" xmlns="" id="{DEFD7A13-1524-5532-E854-AD5B3CA572D5}"/>
              </a:ext>
            </a:extLst>
          </p:cNvPr>
          <p:cNvSpPr txBox="1"/>
          <p:nvPr/>
        </p:nvSpPr>
        <p:spPr>
          <a:xfrm>
            <a:off x="4936024" y="8935857"/>
            <a:ext cx="8888958" cy="261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en-US" sz="3200" b="1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MVP Engenharia E Construção LTDA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651736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1727</Words>
  <Application>Microsoft Office PowerPoint</Application>
  <PresentationFormat>Personalizar</PresentationFormat>
  <Paragraphs>395</Paragraphs>
  <Slides>28</Slides>
  <Notes>28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4" baseType="lpstr">
      <vt:lpstr>Calibri</vt:lpstr>
      <vt:lpstr>Montserrat SemiBold</vt:lpstr>
      <vt:lpstr>Arial</vt:lpstr>
      <vt:lpstr>Wingdings</vt:lpstr>
      <vt:lpstr>Montserrat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Cliente</dc:creator>
  <cp:lastModifiedBy>Ecoclinic</cp:lastModifiedBy>
  <cp:revision>20</cp:revision>
  <dcterms:modified xsi:type="dcterms:W3CDTF">2026-08-07T18:04:52Z</dcterms:modified>
</cp:coreProperties>
</file>