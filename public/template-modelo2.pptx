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Image --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!-- Center Text Box (Header & Narrative) -->
      <p:sp>
        <p:nvSpPr>
          <p:cNvPr id="3" name="Certificado Header e Corpo"/>
          <p:cNvSpPr txBox="1"/>
          <p:nvPr/>
        </p:nvSpPr>
        <p:spPr>
          <a:xfrm>
            <a:off x="1068934" y="600000"/>
            <a:ext cx="8551468" cy="4500000"/>
          </a:xfrm>
          <a:prstGeom prst="rect">
            <a:avLst/>
          </a:prstGeom>
          <a:noFill/>
        </p:spPr>
        <p:txBody>
          <a:bodyPr vert="horz" lIns="0" tIns="0" rIns="0" bIns="0" anchor="t"/>
          <a:lstStyle/>
          <!-- 1. TITULO PRINCIPAL: Montserrat Bold #595959 -->
          <a:p>
            <a:pPr algn="ctr"/>
            <a:r>
              <a:rPr lang="pt-BR" sz="2600" b="1" spc="150">
                <a:solidFill>
                  <a:srgbClr val="595959"/>
                </a:solidFill>
                <a:latin typeface="Montserrat"/>
                <a:cs typeface="Montserrat"/>
              </a:rPr>
              <a:t>CERTIFICADO DE CAPACITAÇÃO</a:t>
            </a:r>
          </a:p>
          <!-- 2. SUBTITULO: Lato Regular #000000 -->
          <a:p>
            <a:pPr algn="ctr">
              <a:spcBfr>
                <a:spcPts val="600"/>
              </a:spcBfr>
            </a:pPr>
            <a:r>
              <a:rPr lang="pt-BR" sz="1500" b="0">
                <a:solidFill>
                  <a:srgbClr val="000000"/>
                </a:solidFill>
                <a:latin typeface="Lato"/>
                <a:cs typeface="Lato"/>
              </a:rPr>
              <a:t>A ECOSAFETY certifica que:</a:t>
            </a:r>
          </a:p>
          <!-- 3. NOME DO ALUNO: Lato Black #3340E6 (Azul Real) -->
          <a:p>
            <a:pPr algn="ctr">
              <a:spcBfr>
                <a:spcPts val="700"/>
              </a:spcBfr>
            </a:pPr>
            <a:r>
              <a:rPr lang="pt-BR" sz="2200" b="1" spc="50">
                <a:solidFill>
                  <a:srgbClr val="3340E6"/>
                </a:solidFill>
                <a:latin typeface="Lato"/>
                <a:cs typeface="Lato"/>
              </a:rPr>
              <a:t>{{NOME_ALUNO}}</a:t>
            </a:r>
          </a:p>
          <!-- 4. TEXTO DE CONCLUSAO: Lato Regular #000000 -->
          <a:p>
            <a:pPr algn="ctr">
              <a:spcBfr>
                <a:spcPts val="500"/>
              </a:spcBfr>
            </a:pPr>
            <a:r>
              <a:rPr lang="pt-BR" sz="1200" b="0">
                <a:solidFill>
                  <a:srgbClr val="000000"/>
                </a:solidFill>
                <a:latin typeface="Lato"/>
              </a:rPr>
              <a:t>Portador do CPF: {{CPF}}, completou com aprovação no período de {{DATA}} na ECOSAFETY TREINAMENTOS, o treinamento de:</a:t>
            </a:r>
          </a:p>
          <!-- 5. NOME DO CURSO: Lato Bold #3340E6 -->
          <a:p>
            <a:pPr algn="ctr">
              <a:spcBfr>
                <a:spcPts val="600"/>
              </a:spcBfr>
            </a:pPr>
            <a:r>
              <a:rPr lang="pt-BR" sz="1600" b="1">
                <a:solidFill>
                  <a:srgbClr val="3340E6"/>
                </a:solidFill>
                <a:latin typeface="Lato"/>
              </a:rPr>
              <a:t>{{CURSO}}</a:t>
            </a:r>
          </a:p>
          <!-- 6. DESCRICAO / APROVEITAMENTO: Lato Regular #000000 -->
          <a:p>
            <a:pPr algn="just">
              <a:spcBfr>
                <a:spcPts val="450"/>
              </a:spcBfr>
            </a:pPr>
            <a:r>
              <a:rPr lang="pt-BR" sz="1050" b="0">
                <a:solidFill>
                  <a:srgbClr val="000000"/>
                </a:solidFill>
                <a:latin typeface="Lato"/>
              </a:rPr>
              <a:t>{{DESCRICAO}}</a:t>
            </a:r>
          </a:p>
          <!-- 7. LOCAL E DATA: Lato Regular #000000 -->
          <a:p>
            <a:pPr algn="ctr">
              <a:spcBfr>
                <a:spcPts val="500"/>
              </a:spcBfr>
            </a:pPr>
            <a:r>
              <a:rPr lang="pt-BR" sz="1150" b="0">
                <a:solidFill>
                  <a:srgbClr val="000000"/>
                </a:solidFill>
                <a:latin typeface="Lato"/>
              </a:rPr>
              <a:t>{{LOCAL}}, Brasil, {{DATA}}.</a:t>
            </a:r>
          </a:p>
        </p:txBody>
      </p:sp>
      <!-- ================= ASSINATURAS (4 COLUNAS) ================= -->
      <!-- 1. Raimundo (Assinatura rId3) -->
      <p:pic>
        <p:nvPicPr>
          <p:cNvPr id="4" name="Sig Raimun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000" y="5250000"/>
            <a:ext cx="1200000" cy="500000"/>
          </a:xfrm>
          <a:prstGeom prst="rect">
            <a:avLst/>
          </a:prstGeom>
        </p:spPr>
      </p:pic>
      <!-- Raimundo Traço e Texto -->
      <p:sp>
        <p:nvSpPr>
          <p:cNvPr id="5" name="Linha Raimundo"/>
          <p:cNvSpPr/>
          <p:nvPr/>
        </p:nvSpPr>
        <p:spPr>
          <a:xfrm>
            <a:off x="1094668" y="5750000"/>
            <a:ext cx="1950000" cy="120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0" tIns="50000" rIns="0" bIns="0" anchor="t"/>
          <a:lstStyle/>
          <a:p>
            <a:pPr algn="ctr"/>
            <a:r>
              <a:rPr lang="pt-BR" sz="800" b="1">
                <a:solidFill>
                  <a:srgbClr val="000000"/>
                </a:solidFill>
                <a:latin typeface="Lato"/>
              </a:rPr>
              <a:t>RESPONSAVEL TÉCNICO</a:t>
            </a:r>
          </a:p>
          <a:p>
            <a:pPr algn="ctr"/>
            <a:r>
              <a:rPr lang="pt-BR" sz="750" b="0">
                <a:solidFill>
                  <a:srgbClr val="000000"/>
                </a:solidFill>
                <a:latin typeface="Lato"/>
              </a:rPr>
              <a:t>Raimundo Fernandes de Oliveira Junior</a:t>
            </a:r>
          </a:p>
          <a:p>
            <a:pPr algn="ctr"/>
            <a:r>
              <a:rPr lang="pt-BR" sz="700" b="0">
                <a:solidFill>
                  <a:srgbClr val="000000"/>
                </a:solidFill>
                <a:latin typeface="Lato"/>
              </a:rPr>
              <a:t>Registro CREA – 211204597-0</a:t>
            </a:r>
          </a:p>
        </p:txBody>
      </p:sp>
      <!-- 2. Cezar Augusto (Assinatura rId4) -->
      <p:pic>
        <p:nvPicPr>
          <p:cNvPr id="6" name="Sig Cez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000" y="5250000"/>
            <a:ext cx="1200000" cy="500000"/>
          </a:xfrm>
          <a:prstGeom prst="rect">
            <a:avLst/>
          </a:prstGeom>
        </p:spPr>
      </p:pic>
      <!-- Cezar Traço e Texto -->
      <p:sp>
        <p:nvSpPr>
          <p:cNvPr id="7" name="Linha Cezar"/>
          <p:cNvSpPr/>
          <p:nvPr/>
        </p:nvSpPr>
        <p:spPr>
          <a:xfrm>
            <a:off x="3294668" y="5750000"/>
            <a:ext cx="1950000" cy="120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0" tIns="50000" rIns="0" bIns="0" anchor="t"/>
          <a:lstStyle/>
          <a:p>
            <a:pPr algn="ctr"/>
            <a:r>
              <a:rPr lang="pt-BR" sz="750" b="1">
                <a:solidFill>
                  <a:srgbClr val="000000"/>
                </a:solidFill>
                <a:latin typeface="Lato"/>
              </a:rPr>
              <a:t>RESPONSAVEL TÉCNICO / INSTRUTOR</a:t>
            </a:r>
          </a:p>
          <a:p>
            <a:pPr algn="ctr"/>
            <a:r>
              <a:rPr lang="pt-BR" sz="700" b="0">
                <a:solidFill>
                  <a:srgbClr val="000000"/>
                </a:solidFill>
                <a:latin typeface="Lato"/>
              </a:rPr>
              <a:t>Engenheiro Eletricista</a:t>
            </a:r>
          </a:p>
          <a:p>
            <a:pPr algn="ctr"/>
            <a:r>
              <a:rPr lang="pt-BR" sz="700" b="0">
                <a:solidFill>
                  <a:srgbClr val="000000"/>
                </a:solidFill>
                <a:latin typeface="Lato"/>
              </a:rPr>
              <a:t>Cezar Augusto Galvão De P. Camêlo</a:t>
            </a:r>
          </a:p>
          <a:p>
            <a:pPr algn="ctr"/>
            <a:r>
              <a:rPr lang="pt-BR" sz="700" b="0">
                <a:solidFill>
                  <a:srgbClr val="000000"/>
                </a:solidFill>
                <a:latin typeface="Lato"/>
              </a:rPr>
              <a:t>CREA-RN 211051104-4</a:t>
            </a:r>
          </a:p>
        </p:txBody>
      </p:sp>
      <!-- 3. ALUNO (PENDENTE: SEM IMAGEM, LINHA LIVRE) -->
      <p:sp>
        <p:nvSpPr>
          <p:cNvPr id="8" name="Linha Aluno"/>
          <p:cNvSpPr/>
          <p:nvPr/>
        </p:nvSpPr>
        <p:spPr>
          <a:xfrm>
            <a:off x="5494668" y="5750000"/>
            <a:ext cx="1950000" cy="120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0" tIns="50000" rIns="0" bIns="0" anchor="t"/>
          <a:lstStyle/>
          <a:p>
            <a:pPr algn="ctr"/>
            <a:r>
              <a:rPr lang="pt-BR" sz="800" b="1">
                <a:solidFill>
                  <a:srgbClr val="000000"/>
                </a:solidFill>
                <a:latin typeface="Lato"/>
              </a:rPr>
              <a:t>ALUNO</a:t>
            </a:r>
          </a:p>
          <a:p>
            <a:pPr algn="ctr"/>
            <a:r>
              <a:rPr lang="pt-BR" sz="780" b="1">
                <a:solidFill>
                  <a:srgbClr val="3340E6"/>
                </a:solidFill>
                <a:latin typeface="Lato"/>
              </a:rPr>
              <a:t>{{NOME_ALUNO}}</a:t>
            </a:r>
          </a:p>
        </p:txBody>
      </p:sp>
      <!-- 4. INSTRUTOR (Assinatura rId6) -->
      <p:pic>
        <p:nvPicPr>
          <p:cNvPr id="9" name="Sig Instru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0000" y="5250000"/>
            <a:ext cx="1200000" cy="500000"/>
          </a:xfrm>
          <a:prstGeom prst="rect">
            <a:avLst/>
          </a:prstGeom>
        </p:spPr>
      </p:pic>
      <!-- Instrutor Traço e Texto -->
      <p:sp>
        <p:nvSpPr>
          <p:cNvPr id="10" name="Linha Instrutor"/>
          <p:cNvSpPr/>
          <p:nvPr/>
        </p:nvSpPr>
        <p:spPr>
          <a:xfrm>
            <a:off x="7694668" y="5750000"/>
            <a:ext cx="1950000" cy="120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0" tIns="50000" rIns="0" bIns="0" anchor="t"/>
          <a:lstStyle/>
          <a:p>
            <a:pPr algn="ctr"/>
            <a:r>
              <a:rPr lang="pt-BR" sz="800" b="1">
                <a:solidFill>
                  <a:srgbClr val="000000"/>
                </a:solidFill>
                <a:latin typeface="Lato"/>
              </a:rPr>
              <a:t>INSTRUTOR</a:t>
            </a:r>
          </a:p>
          <a:p>
            <a:pPr algn="ctr"/>
            <a:r>
              <a:rPr lang="pt-BR" sz="750" b="0">
                <a:solidFill>
                  <a:srgbClr val="000000"/>
                </a:solidFill>
                <a:latin typeface="Lato"/>
              </a:rPr>
              <a:t>{{INSTRUTOR}}</a:t>
            </a:r>
          </a:p>
          <a:p>
            <a:pPr algn="ctr"/>
            <a:r>
              <a:rPr lang="pt-BR" sz="700" b="0">
                <a:solidFill>
                  <a:srgbClr val="000000"/>
                </a:solidFill>
                <a:latin typeface="Lato"/>
              </a:rPr>
              <a:t>{{REGISTRO_INSTRUTOR}}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Image -->
      <p:pic>
        <p:nvPicPr>
          <p:cNvPr id="2" name="Background Vers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!-- Header Programa e Carga Horaria -->
      <p:sp>
        <p:nvSpPr>
          <p:cNvPr id="3" name="Programa Header"/>
          <p:cNvSpPr txBox="1"/>
          <p:nvPr/>
        </p:nvSpPr>
        <p:spPr>
          <a:xfrm>
            <a:off x="1100000" y="600000"/>
            <a:ext cx="8500000" cy="80000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pt-BR" sz="1400" b="0">
                <a:solidFill>
                  <a:srgbClr val="595959"/>
                </a:solidFill>
                <a:latin typeface="Calibri"/>
              </a:rPr>
              <a:t>Programa: </a:t>
            </a:r>
            <a:r>
              <a:rPr lang="pt-BR" sz="1400" b="1">
                <a:solidFill>
                  <a:srgbClr val="3340E6"/>
                </a:solidFill>
                <a:latin typeface="Calibri"/>
              </a:rPr>
              <a:t>{{CURSO}}</a:t>
            </a:r>
          </a:p>
          <a:p>
            <a:r>
              <a:rPr lang="pt-BR" sz="1200" b="0">
                <a:solidFill>
                  <a:srgbClr val="595959"/>
                </a:solidFill>
                <a:latin typeface="Calibri"/>
              </a:rPr>
              <a:t>Carga horária: {{CARGA_HORARIA}}</a:t>
            </a:r>
          </a:p>
        </p:txBody>
      </p:sp>
      <!-- Coluna 1 do Conteudo Programatico -->
      <p:sp>
        <p:nvSpPr>
          <p:cNvPr id="4" name="Conteudo Coluna 1"/>
          <p:cNvSpPr txBox="1"/>
          <p:nvPr/>
        </p:nvSpPr>
        <p:spPr>
          <a:xfrm>
            <a:off x="1100000" y="1500000"/>
            <a:ext cx="4000000" cy="510000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pt-BR" sz="950" b="0">
                <a:solidFill>
                  <a:srgbClr val="000000"/>
                </a:solidFill>
                <a:latin typeface="Times New Roman"/>
              </a:rPr>
              <a:t>{{CONTEUDO_COL1}}</a:t>
            </a:r>
          </a:p>
        </p:txBody>
      </p:sp>
      <!-- Coluna 2 do Conteudo Programatico -->
      <p:sp>
        <p:nvSpPr>
          <p:cNvPr id="5" name="Conteudo Coluna 2"/>
          <p:cNvSpPr txBox="1"/>
          <p:nvPr/>
        </p:nvSpPr>
        <p:spPr>
          <a:xfrm>
            <a:off x="5400000" y="1500000"/>
            <a:ext cx="4200000" cy="510000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r>
              <a:rPr lang="pt-BR" sz="950" b="0">
                <a:solidFill>
                  <a:srgbClr val="000000"/>
                </a:solidFill>
                <a:latin typeface="Times New Roman"/>
              </a:rPr>
              <a:t>{{CONTEUDO_COL2}}</a:t>
            </a:r>
          </a:p>
        </p:txBody>
      </p:sp>
      <!-- Rodape Validade Oficial -->
      <p:sp>
        <p:nvSpPr>
          <p:cNvPr id="6" name="Rodape Validade"/>
          <p:cNvSpPr txBox="1"/>
          <p:nvPr/>
        </p:nvSpPr>
        <p:spPr>
          <a:xfrm>
            <a:off x="1100000" y="6850000"/>
            <a:ext cx="8500000" cy="400000"/>
          </a:xfrm>
          <a:prstGeom prst="rect">
            <a:avLst/>
          </a:prstGeom>
          <a:noFill/>
        </p:spPr>
        <p:txBody>
          <a:bodyPr vert="horz" lIns="0" tIns="0" rIns="0" bIns="0"/>
          <a:lstStyle/>
          <a:p>
            <a:pPr algn="ctr"/>
            <a:r>
              <a:rPr lang="pt-BR" sz="1000" b="1">
                <a:solidFill>
                  <a:srgbClr val="595959"/>
                </a:solidFill>
                <a:latin typeface="Calibri"/>
              </a:rPr>
              <a:t>ECOSAFETY</a:t>
            </a:r>
            <a:r>
              <a:rPr lang="pt-BR" sz="1000" b="0">
                <a:solidFill>
                  <a:srgbClr val="595959"/>
                </a:solidFill>
                <a:latin typeface="Calibri"/>
              </a:rPr>
              <a:t> • CNPJ 50.710.500/0001-95 • ESSE TREINAMENTO TEM VALIDADE DE {{VALIDADE}}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